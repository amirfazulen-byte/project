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220ccf67-300e-7be4-6dee-0778abb4cafe}">
          <p14:sldIdLst>
            <p14:sldId id="256"/>
          </p14:sldIdLst>
        </p14:section>
        <p14:section name="Проблема" id="{dec8f163-97e9-d41d-5a2e-a63214e4abbd}">
          <p14:sldIdLst>
            <p14:sldId id="257"/>
          </p14:sldIdLst>
        </p14:section>
        <p14:section name="Решение" id="{9067cd9c-963a-1098-b5ec-66fd05b64569}">
          <p14:sldIdLst>
            <p14:sldId id="258"/>
          </p14:sldIdLst>
        </p14:section>
        <p14:section name="Рынок" id="{5fb9bddc-716c-8c83-c212-ebce6a728fcb}">
          <p14:sldIdLst>
            <p14:sldId id="259"/>
          </p14:sldIdLst>
        </p14:section>
        <p14:section name="Итог" id="{a0a5bcfc-3b8e-24f3-7579-5c021df57f03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 и назвать проект одной фразой: тренажёр, который помогает школьнику не бояться отвечать у доски.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Цифра ВЦИОМ — про взрослых, это честно и стоит сказать. 65% и возраст 6–8 класса — из школьного исследования на 114 учениках, выборка небольшая. ЛУЧШЕ ВСЕГО: опросить 20–30 одноклассников и поставить свою цифру — это сильнее любой чужой статистики.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Подчеркнуть: это не советы «не волнуйся», а конкретные действия, которые можно сделать прямо сейчас у доски.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Цена 29 990 ₽ — реальный онлайн-курс ораторского искусства, найден в открытом доступе. Главная мысль слайда: мы решаем узкую задачу быстро, а не учим ораторскому мастерству вообще.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на планах и поблагодарить.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441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0"/>
                </a:solidFill>
              </a:rPr>
              <a:t>Спокойно у доски · тренажёр для школьников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0"/>
                </a:solidFill>
              </a:rPr>
              <a:t>Спокойно у доски · тренажёр для школьников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Спокойно у доски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Не надо быть идеальным — надо быть понятным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5DADD"/>
                </a:solidFill>
              </a:rPr>
              <a:t>Тренажёр для школьников, которые боятся отвечать у доски</a:t>
            </a:r>
            <a:endParaRPr lang="en-US" sz="1600" dirty="0"/>
          </a:p>
        </p:txBody>
      </p:sp>
      <p:sp>
        <p:nvSpPr>
          <p:cNvPr id="5" name="подпись"/>
          <p:cNvSpPr txBox="1"/>
          <p:nvPr/>
        </p:nvSpPr>
        <p:spPr>
          <a:xfrm>
            <a:off x="640080" y="49834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Батыршин Ильназ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C5DADD"/>
                </a:solidFill>
              </a:rPr>
              <a:t>Лицей-интернат имени Мустафы Онджеля</a:t>
            </a:r>
            <a:endParaRPr lang="en-US" sz="19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8FAEB3"/>
                </a:solidFill>
              </a:rPr>
              <a:t>Школьный конкурс по технологическому предпринимательству · ИТ-парк Татарстана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4414F"/>
                </a:solidFill>
              </a:rPr>
              <a:t>Страх у доски мешает учиться</a:t>
            </a:r>
            <a:endParaRPr lang="en-US" sz="3800" dirty="0"/>
          </a:p>
        </p:txBody>
      </p:sp>
      <p:sp>
        <p:nvSpPr>
          <p:cNvPr id="3" name="вциом"/>
          <p:cNvSpPr/>
          <p:nvPr/>
        </p:nvSpPr>
        <p:spPr>
          <a:xfrm>
            <a:off x="64008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28090"/>
                </a:solidFill>
              </a:rPr>
              <a:t>11%</a:t>
            </a:r>
            <a:endParaRPr lang="en-US" sz="38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B80"/>
                </a:solidFill>
              </a:rPr>
              <a:t>людей в России боятся публичных выступлений — опрос ВЦИОМ</a:t>
            </a:r>
            <a:endParaRPr lang="en-US" sz="3800" dirty="0"/>
          </a:p>
        </p:txBody>
      </p:sp>
      <p:sp>
        <p:nvSpPr>
          <p:cNvPr id="4" name="школьники"/>
          <p:cNvSpPr/>
          <p:nvPr/>
        </p:nvSpPr>
        <p:spPr>
          <a:xfrm>
            <a:off x="43891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28090"/>
                </a:solidFill>
              </a:rPr>
              <a:t>65%</a:t>
            </a:r>
            <a:endParaRPr lang="en-US" sz="38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B80"/>
                </a:solidFill>
              </a:rPr>
              <a:t>школьников знаком этот страх — опрос 114 учеников в школьном исследовании</a:t>
            </a:r>
            <a:endParaRPr lang="en-US" sz="3800" dirty="0"/>
          </a:p>
        </p:txBody>
      </p:sp>
      <p:sp>
        <p:nvSpPr>
          <p:cNvPr id="5" name="возраст"/>
          <p:cNvSpPr/>
          <p:nvPr/>
        </p:nvSpPr>
        <p:spPr>
          <a:xfrm>
            <a:off x="813816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28090"/>
                </a:solidFill>
              </a:rPr>
              <a:t>6 и 8 класс</a:t>
            </a:r>
            <a:endParaRPr lang="en-US" sz="24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2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B80"/>
                </a:solidFill>
              </a:rPr>
              <a:t>возраст, когда страх встречается чаще всего</a:t>
            </a:r>
            <a:endParaRPr lang="en-US" sz="2400" dirty="0"/>
          </a:p>
        </p:txBody>
      </p:sp>
      <p:sp>
        <p:nvSpPr>
          <p:cNvPr id="6" name="что происходит"/>
          <p:cNvSpPr/>
          <p:nvPr/>
        </p:nvSpPr>
        <p:spPr>
          <a:xfrm>
            <a:off x="640080" y="370332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1F8F8"/>
          </a:solidFill>
          <a:ln/>
        </p:spPr>
        <p:txBody>
          <a:bodyPr wrap="square" lIns="203200" tIns="254000" rIns="254000" bIns="2032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4414F"/>
                </a:solidFill>
              </a:rPr>
              <a:t>Что происходит на уроке</a:t>
            </a:r>
            <a:endParaRPr lang="en-US" sz="1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Ученик знает материал, но у доски теряется: забывает структуру, говорит обрывками, получает оценку ниже своих знаний. Со временем начинает избегать ответов вообще.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B80"/>
                </a:solidFill>
              </a:rPr>
              <a:t>Школьное исследование — небольшая выборка. Свои цифры по классу надёжнее: опросите 20–30 одноклассников.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4414F"/>
                </a:solidFill>
              </a:rPr>
              <a:t>Три инструмента вместо советов</a:t>
            </a:r>
            <a:endParaRPr lang="en-US" sz="3800" dirty="0"/>
          </a:p>
        </p:txBody>
      </p:sp>
      <p:sp>
        <p:nvSpPr>
          <p:cNvPr id="3" name="приёмы"/>
          <p:cNvSpPr/>
          <p:nvPr/>
        </p:nvSpPr>
        <p:spPr>
          <a:xfrm>
            <a:off x="640080" y="1600200"/>
            <a:ext cx="33832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28090"/>
                </a:solidFill>
              </a:rPr>
              <a:t>Быстрые приёмы</a:t>
            </a:r>
            <a:endParaRPr lang="en-US" sz="17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Дыхание 4-7-8, точка опоры под ногами, один спокойный взгляд в классе. Работают за 10–15 секунд, пока идёшь к доске.</a:t>
            </a:r>
            <a:endParaRPr lang="en-US" sz="1700" dirty="0"/>
          </a:p>
        </p:txBody>
      </p:sp>
      <p:sp>
        <p:nvSpPr>
          <p:cNvPr id="4" name="скелет"/>
          <p:cNvSpPr/>
          <p:nvPr/>
        </p:nvSpPr>
        <p:spPr>
          <a:xfrm>
            <a:off x="4389120" y="1600200"/>
            <a:ext cx="33832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28090"/>
                </a:solidFill>
              </a:rPr>
              <a:t>Скелет ответа</a:t>
            </a:r>
            <a:endParaRPr lang="en-US" sz="17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Вступление, 2–3 главных момента, вывод. Готовые фразы можно скопировать: «Я хочу рассказать о…», «Во-первых, …», «Таким образом, …».</a:t>
            </a:r>
            <a:endParaRPr lang="en-US" sz="1700" dirty="0"/>
          </a:p>
        </p:txBody>
      </p:sp>
      <p:sp>
        <p:nvSpPr>
          <p:cNvPr id="5" name="тренажёр"/>
          <p:cNvSpPr/>
          <p:nvPr/>
        </p:nvSpPr>
        <p:spPr>
          <a:xfrm>
            <a:off x="8138160" y="1600200"/>
            <a:ext cx="33832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28090"/>
                </a:solidFill>
              </a:rPr>
              <a:t>Тренажёр на минуту</a:t>
            </a:r>
            <a:endParaRPr lang="en-US" sz="17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Выбираешь тему или крутишь колесо, за минуту записываешь тезисы и отмечаешь, что получилось. Без оценки.</a:t>
            </a:r>
            <a:endParaRPr lang="en-US" sz="1700" dirty="0"/>
          </a:p>
        </p:txBody>
      </p:sp>
      <p:sp>
        <p:nvSpPr>
          <p:cNvPr id="6" name="принцип"/>
          <p:cNvSpPr/>
          <p:nvPr/>
        </p:nvSpPr>
        <p:spPr>
          <a:xfrm>
            <a:off x="640080" y="4114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028090"/>
          </a:solidFill>
          <a:ln/>
        </p:spPr>
        <p:txBody>
          <a:bodyPr wrap="square" lIns="203200" tIns="254000" rIns="254000" bIns="2032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Главный принцип — без оценок</a:t>
            </a:r>
            <a:endParaRPr lang="en-US" sz="1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5EDEF"/>
                </a:solidFill>
              </a:rPr>
              <a:t>Там, где ставят оценку, страх только растёт. Здесь ученик тренируется один, в своём темпе, и никто не видит его ошибок.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4414F"/>
                </a:solidFill>
              </a:rPr>
              <a:t>Чем отличается от курсов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4414F"/>
                </a:solidFill>
              </a:rPr>
              <a:t>Курсы учат выступать вообще. Здесь решается одна конкретная ситуация — ответ у доски, и тренировка занимает минуту, а не недели.</a:t>
            </a:r>
            <a:endParaRPr lang="en-US" sz="1500" dirty="0"/>
          </a:p>
        </p:txBody>
      </p:sp>
      <p:graphicFrame>
        <p:nvGraphicFramePr>
          <p:cNvPr id="5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8813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37744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есть сейчас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занимает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оценка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ораторского искусства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29 990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недели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Репетитор по риторике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месяцы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Школьный психолог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 записи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Советы в интернете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«Спокойно у доски»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минута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Что дальше</a:t>
            </a:r>
            <a:endParaRPr lang="en-US" sz="4000" dirty="0"/>
          </a:p>
        </p:txBody>
      </p:sp>
      <p:sp>
        <p:nvSpPr>
          <p:cNvPr id="3" name="план 1"/>
          <p:cNvSpPr/>
          <p:nvPr/>
        </p:nvSpPr>
        <p:spPr>
          <a:xfrm>
            <a:off x="640080" y="2103120"/>
            <a:ext cx="3413760" cy="1188720"/>
          </a:xfrm>
          <a:prstGeom prst="roundRect">
            <a:avLst>
              <a:gd name="adj" fmla="val 7692"/>
            </a:avLst>
          </a:prstGeom>
          <a:solidFill>
            <a:srgbClr val="0C6070"/>
          </a:solidFill>
          <a:ln/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Запись голоса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5DADD"/>
                </a:solidFill>
              </a:rPr>
              <a:t>проговорить ответ вслух</a:t>
            </a:r>
            <a:endParaRPr lang="en-US" sz="1600" dirty="0"/>
          </a:p>
        </p:txBody>
      </p:sp>
      <p:sp>
        <p:nvSpPr>
          <p:cNvPr id="4" name="план 2"/>
          <p:cNvSpPr/>
          <p:nvPr/>
        </p:nvSpPr>
        <p:spPr>
          <a:xfrm>
            <a:off x="4373880" y="2103120"/>
            <a:ext cx="3413760" cy="1188720"/>
          </a:xfrm>
          <a:prstGeom prst="roundRect">
            <a:avLst>
              <a:gd name="adj" fmla="val 7692"/>
            </a:avLst>
          </a:prstGeom>
          <a:solidFill>
            <a:srgbClr val="0C6070"/>
          </a:solidFill>
          <a:ln/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Темы по предметам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5DADD"/>
                </a:solidFill>
              </a:rPr>
              <a:t>биология, история, литература</a:t>
            </a:r>
            <a:endParaRPr lang="en-US" sz="1600" dirty="0"/>
          </a:p>
        </p:txBody>
      </p:sp>
      <p:sp>
        <p:nvSpPr>
          <p:cNvPr id="5" name="план 3"/>
          <p:cNvSpPr/>
          <p:nvPr/>
        </p:nvSpPr>
        <p:spPr>
          <a:xfrm>
            <a:off x="8107680" y="2103120"/>
            <a:ext cx="3413760" cy="1188720"/>
          </a:xfrm>
          <a:prstGeom prst="roundRect">
            <a:avLst>
              <a:gd name="adj" fmla="val 7692"/>
            </a:avLst>
          </a:prstGeom>
          <a:solidFill>
            <a:srgbClr val="0C6070"/>
          </a:solidFill>
          <a:ln/>
        </p:spPr>
        <p:txBody>
          <a:bodyPr wrap="square" lIns="152400" tIns="177800" rIns="177800" bIns="1524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Класс целиком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5DADD"/>
                </a:solidFill>
              </a:rPr>
              <a:t>учитель открывает всему классу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118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C5DADD"/>
                </a:solidFill>
              </a:rPr>
              <a:t>Начать можно с одного класса: тренажёр ничего не стоит и не требует разрешений</a:t>
            </a:r>
            <a:endParaRPr lang="en-US" sz="1500" dirty="0"/>
          </a:p>
        </p:txBody>
      </p:sp>
      <p:sp>
        <p:nvSpPr>
          <p:cNvPr id="7" name="подпись"/>
          <p:cNvSpPr txBox="1"/>
          <p:nvPr/>
        </p:nvSpPr>
        <p:spPr>
          <a:xfrm>
            <a:off x="640080" y="4343400"/>
            <a:ext cx="9144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</a:rPr>
              <a:t>govor.tatnet.app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8FAEB3"/>
                </a:solidFill>
              </a:rPr>
              <a:t>Спасибо. Готов ответить на вопросы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6E8E94"/>
                </a:solidFill>
              </a:rPr>
              <a:t>Батыршин Ильназ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6E8E94"/>
                </a:solidFill>
              </a:rPr>
              <a:t>Лицей-интернат имени Мустафы Онджеля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okoyno">
  <a:themeElements>
    <a:clrScheme name="Spokoyno">
      <a:dk1>
        <a:srgbClr val="16262B"/>
      </a:dk1>
      <a:lt1>
        <a:srgbClr val="FFFFFF"/>
      </a:lt1>
      <a:dk2>
        <a:srgbClr val="04414F"/>
      </a:dk2>
      <a:lt2>
        <a:srgbClr val="F1F8F8"/>
      </a:lt2>
      <a:accent1>
        <a:srgbClr val="028090"/>
      </a:accent1>
      <a:accent2>
        <a:srgbClr val="00A896"/>
      </a:accent2>
      <a:accent3>
        <a:srgbClr val="6B7B80"/>
      </a:accent3>
      <a:accent4>
        <a:srgbClr val="02C39A"/>
      </a:accent4>
      <a:accent5>
        <a:srgbClr val="0C6070"/>
      </a:accent5>
      <a:accent6>
        <a:srgbClr val="D5E4E6"/>
      </a:accent6>
      <a:hlink>
        <a:srgbClr val="028090"/>
      </a:hlink>
      <a:folHlink>
        <a:srgbClr val="6B7B80"/>
      </a:folHlink>
    </a:clrScheme>
    <a:fontScheme name="Spokoyn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Спокойно у доски — тренажёр для школьников</dc:title>
  <dc:subject>PptxGenJS Presentation</dc:subject>
  <dc:creator>Проект «Спокойно у доски»</dc:creator>
  <cp:lastModifiedBy>Проект «Спокойно у доски»</cp:lastModifiedBy>
  <cp:revision>1</cp:revision>
  <dcterms:created xsi:type="dcterms:W3CDTF">2026-10-28T06:40:43Z</dcterms:created>
  <dcterms:modified xsi:type="dcterms:W3CDTF">2026-10-28T06:40:43Z</dcterms:modified>
</cp:coreProperties>
</file>