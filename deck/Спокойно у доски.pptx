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ffbe4af3-559f-53be-8ce9-be6fbf8e24c1}">
          <p14:sldIdLst>
            <p14:sldId id="256"/>
          </p14:sldIdLst>
        </p14:section>
        <p14:section name="Проблема" id="{9ed41a41-3099-88e9-cd25-b7793a0a65bf}">
          <p14:sldIdLst>
            <p14:sldId id="257"/>
          </p14:sldIdLst>
        </p14:section>
        <p14:section name="Решение" id="{d2eb7dd6-5f75-e659-889a-6c8a6b6bdbd5}">
          <p14:sldIdLst>
            <p14:sldId id="258"/>
            <p14:sldId id="259"/>
          </p14:sldIdLst>
        </p14:section>
        <p14:section name="Рынок" id="{d17140a8-2fcb-0a1f-2fe9-3f8f6d54085f}">
          <p14:sldIdLst>
            <p14:sldId id="260"/>
          </p14:sldIdLst>
        </p14:section>
        <p14:section name="Итог" id="{cf07b2dc-3b3d-b36e-831d-f89c7ee2b4b8}">
          <p14:sldIdLst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«Фамилия Имя» на своё. Представиться и назвать проект одной фразой: тренажёр, который помогает школьнику не бояться отвечать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Цифра ВЦИОМ — про взрослых, это честно и стоит сказать. 65% и возраст 6–8 класса — из школьного исследования на 114 учениках, выборка небольшая. ЛУЧШЕ ВСЕГО: опросить 20–30 одноклассников и поставить свою цифру — это сильнее любой чужой статистики.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Подчеркнуть: это не советы «не волнуйся», а конкретные действия, которые можно сделать прямо сейчас у доски.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скриншоты на случай сбоя сети. Предложить жюри самим выбрать тему на колесе — так убедительнее.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Цена 29 990 ₽ — реальный онлайн-курс ораторского искусства, найден в открытом доступе. Главная мысль слайда: мы решаем узкую задачу быстро, а не учим ораторскому мастерству вообще.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ЗАМЕНИТЬ «Фамилия Имя». Закончить на планах и поблагодарить.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441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B80"/>
                </a:solidFill>
              </a:rPr>
              <a:t>Спокойно у доски · тренажёр для школьников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21031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</a:rPr>
              <a:t>Спокойно у доски</a:t>
            </a:r>
            <a:endParaRPr lang="en-US" sz="5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29184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02C39A"/>
                </a:solidFill>
              </a:rPr>
              <a:t>Не надо быть идеальным — надо быть понятным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8862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5DADD"/>
                </a:solidFill>
              </a:rPr>
              <a:t>Тренажёр для школьников, которые боятся отвечать у доски</a:t>
            </a:r>
            <a:endParaRPr lang="en-US" sz="1600" dirty="0"/>
          </a:p>
        </p:txBody>
      </p:sp>
      <p:sp>
        <p:nvSpPr>
          <p:cNvPr id="5" name="подпись"/>
          <p:cNvSpPr txBox="1"/>
          <p:nvPr/>
        </p:nvSpPr>
        <p:spPr>
          <a:xfrm>
            <a:off x="640080" y="4983480"/>
            <a:ext cx="9144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Фамилия Имя</a:t>
            </a:r>
            <a:endParaRPr lang="en-US" sz="1900" dirty="0"/>
          </a:p>
          <a:p>
            <a:pPr indent="0" marL="0">
              <a:buNone/>
            </a:pPr>
            <a:r>
              <a:rPr lang="en-US" sz="1500" dirty="0">
                <a:solidFill>
                  <a:srgbClr val="C5DADD"/>
                </a:solidFill>
              </a:rPr>
              <a:t>Лицей-интернат имени Мустафы Онджеля</a:t>
            </a:r>
            <a:endParaRPr lang="en-US" sz="1900" dirty="0"/>
          </a:p>
          <a:p>
            <a:pPr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8FAEB3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Страх у доски мешает учиться</a:t>
            </a:r>
            <a:endParaRPr lang="en-US" sz="3800" dirty="0"/>
          </a:p>
        </p:txBody>
      </p:sp>
      <p:sp>
        <p:nvSpPr>
          <p:cNvPr id="3" name="вциом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11%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людей в России боятся публичных выступлений — опрос ВЦИОМ</a:t>
            </a:r>
            <a:endParaRPr lang="en-US" sz="3800" dirty="0"/>
          </a:p>
        </p:txBody>
      </p:sp>
      <p:sp>
        <p:nvSpPr>
          <p:cNvPr id="4" name="школьники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28090"/>
                </a:solidFill>
              </a:rPr>
              <a:t>65%</a:t>
            </a:r>
            <a:endParaRPr lang="en-US" sz="38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3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школьников знаком этот страх — опрос 114 учеников в школьном исследовании</a:t>
            </a:r>
            <a:endParaRPr lang="en-US" sz="3800" dirty="0"/>
          </a:p>
        </p:txBody>
      </p:sp>
      <p:sp>
        <p:nvSpPr>
          <p:cNvPr id="5" name="возраст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28090"/>
                </a:solidFill>
              </a:rPr>
              <a:t>6 и 8 класс</a:t>
            </a:r>
            <a:endParaRPr lang="en-US" sz="24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24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6B7B80"/>
                </a:solidFill>
              </a:rPr>
              <a:t>возраст, когда страх встречается чаще всего</a:t>
            </a:r>
            <a:endParaRPr lang="en-US" sz="2400" dirty="0"/>
          </a:p>
        </p:txBody>
      </p:sp>
      <p:sp>
        <p:nvSpPr>
          <p:cNvPr id="6" name="что происходит"/>
          <p:cNvSpPr/>
          <p:nvPr/>
        </p:nvSpPr>
        <p:spPr>
          <a:xfrm>
            <a:off x="640080" y="3703320"/>
            <a:ext cx="10881360" cy="1463040"/>
          </a:xfrm>
          <a:prstGeom prst="roundRect">
            <a:avLst>
              <a:gd name="adj" fmla="val 5000"/>
            </a:avLst>
          </a:prstGeom>
          <a:solidFill>
            <a:srgbClr val="F1F8F8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4414F"/>
                </a:solidFill>
              </a:rPr>
              <a:t>Что происходит на уроке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Ученик знает материал, но у доски теряется: забывает структуру, говорит обрывками, получает оценку ниже своих знаний. Со временем начинает избегать ответов вообще.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035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6B7B80"/>
                </a:solidFill>
              </a:rPr>
              <a:t>Школьное исследование — небольшая выборка. Свои цифры по классу надёжнее: опросите 20–30 одноклассников.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Три инструмента вместо советов</a:t>
            </a:r>
            <a:endParaRPr lang="en-US" sz="3800" dirty="0"/>
          </a:p>
        </p:txBody>
      </p:sp>
      <p:sp>
        <p:nvSpPr>
          <p:cNvPr id="3" name="приёмы"/>
          <p:cNvSpPr/>
          <p:nvPr/>
        </p:nvSpPr>
        <p:spPr>
          <a:xfrm>
            <a:off x="64008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Быстрые приёмы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Дыхание 4-7-8, точка опоры под ногами, один спокойный взгляд в классе. Работают за 10–15 секунд, пока идёшь к доске.</a:t>
            </a:r>
            <a:endParaRPr lang="en-US" sz="1700" dirty="0"/>
          </a:p>
        </p:txBody>
      </p:sp>
      <p:sp>
        <p:nvSpPr>
          <p:cNvPr id="4" name="скелет"/>
          <p:cNvSpPr/>
          <p:nvPr/>
        </p:nvSpPr>
        <p:spPr>
          <a:xfrm>
            <a:off x="438912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Скелет ответа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Вступление, 2–3 главных момента, вывод. Готовые фразы можно скопировать: «Я хочу рассказать о…», «Во-первых, …», «Таким образом, …».</a:t>
            </a:r>
            <a:endParaRPr lang="en-US" sz="1700" dirty="0"/>
          </a:p>
        </p:txBody>
      </p:sp>
      <p:sp>
        <p:nvSpPr>
          <p:cNvPr id="5" name="тренажёр"/>
          <p:cNvSpPr/>
          <p:nvPr/>
        </p:nvSpPr>
        <p:spPr>
          <a:xfrm>
            <a:off x="8138160" y="1600200"/>
            <a:ext cx="338328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D5E4E6"/>
            </a:solidFill>
          </a:ln>
        </p:spPr>
        <p:txBody>
          <a:bodyPr wrap="square" lIns="177800" tIns="203200" rIns="203200" bIns="1778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28090"/>
                </a:solidFill>
              </a:rPr>
              <a:t>Тренажёр на минуту</a:t>
            </a:r>
            <a:endParaRPr lang="en-US" sz="17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Выбираешь тему или крутишь колесо, за минуту записываешь тезисы и отмечаешь, что получилось. Без оценки.</a:t>
            </a:r>
            <a:endParaRPr lang="en-US" sz="1700" dirty="0"/>
          </a:p>
        </p:txBody>
      </p:sp>
      <p:sp>
        <p:nvSpPr>
          <p:cNvPr id="6" name="принцип"/>
          <p:cNvSpPr/>
          <p:nvPr/>
        </p:nvSpPr>
        <p:spPr>
          <a:xfrm>
            <a:off x="640080" y="4114800"/>
            <a:ext cx="10881360" cy="1371600"/>
          </a:xfrm>
          <a:prstGeom prst="roundRect">
            <a:avLst>
              <a:gd name="adj" fmla="val 5333"/>
            </a:avLst>
          </a:prstGeom>
          <a:solidFill>
            <a:srgbClr val="028090"/>
          </a:solidFill>
          <a:ln/>
        </p:spPr>
        <p:txBody>
          <a:bodyPr wrap="square" lIns="203200" tIns="254000" rIns="254000" bIns="20320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</a:rPr>
              <a:t>Главный принцип — без оценок</a:t>
            </a:r>
            <a:endParaRPr lang="en-US" sz="1700" dirty="0"/>
          </a:p>
          <a:p>
            <a:pPr algn="l" indent="0" marL="0">
              <a:buNone/>
            </a:pPr>
            <a:r>
              <a:rPr lang="en-US" sz="700" dirty="0">
                <a:solidFill>
                  <a:srgbClr val="000000"/>
                </a:solidFill>
              </a:rPr>
              <a:t> </a:t>
            </a:r>
            <a:endParaRPr lang="en-US" sz="1700" dirty="0"/>
          </a:p>
          <a:p>
            <a:pPr algn="l" indent="0" marL="0">
              <a:buNone/>
            </a:pPr>
            <a:r>
              <a:rPr lang="en-US" sz="1500" dirty="0">
                <a:solidFill>
                  <a:srgbClr val="D5EDEF"/>
                </a:solidFill>
              </a:rPr>
              <a:t>Там, где ставят оценку, страх только растёт. Здесь ученик тренируется один, в своём темпе, и никто не видит его ошибок.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Попробуем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40280"/>
            <a:ext cx="8686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C5DADD"/>
                </a:solidFill>
              </a:rPr>
              <a:t>Откройте сайт на телефоне, выберите тему и запишите ответ за минуту — это весь путь ученика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42900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2C39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04414F"/>
                </a:solidFill>
              </a:rPr>
              <a:t>govor.tatnet.app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57200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FAEB3"/>
                </a:solidFill>
              </a:rPr>
              <a:t>Работает в браузере телефона. Ничего не нужно устанавливать, регистрация нужна только для рейтинга.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04414F"/>
                </a:solidFill>
              </a:rPr>
              <a:t>Чем отличается от курсов</a:t>
            </a:r>
            <a:endParaRPr lang="en-US" sz="3800" dirty="0"/>
          </a:p>
        </p:txBody>
      </p:sp>
      <p:graphicFrame>
        <p:nvGraphicFramePr>
          <p:cNvPr id="6" name="сравнение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600200"/>
          <a:ext cx="1088136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651760"/>
                <a:gridCol w="2286000"/>
                <a:gridCol w="228600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есть сейчас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стоит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Сколько занимает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Есть оценка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Курс ораторского искусства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29 990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недели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да, от преподавателя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Репетитор по риторике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платно, за занятие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месяцы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да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Школьный психолог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по записи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но надо прийти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Советы в интернете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минуты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но это просто текст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2809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«Спокойно у доски»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626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нет, в этом суть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5E4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448056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4414F"/>
                </a:solidFill>
              </a:rPr>
              <a:t>Курсы учат выступать вообще. Здесь решается одна конкретная ситуация — ответ у доски, и тренировка занимает минуту, а не недели.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B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Запись голоса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проговорить ответ вслух, а не только записать тезисы</a:t>
            </a:r>
            <a:endParaRPr lang="en-US" sz="1600" dirty="0"/>
          </a:p>
        </p:txBody>
      </p:sp>
      <p:sp>
        <p:nvSpPr>
          <p:cNvPr id="4" name="план 2"/>
          <p:cNvSpPr/>
          <p:nvPr/>
        </p:nvSpPr>
        <p:spPr>
          <a:xfrm>
            <a:off x="43738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Темы по предметам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биология, история, литература — под реальные уроки</a:t>
            </a:r>
            <a:endParaRPr lang="en-US" sz="1600" dirty="0"/>
          </a:p>
        </p:txBody>
      </p:sp>
      <p:sp>
        <p:nvSpPr>
          <p:cNvPr id="5" name="план 3"/>
          <p:cNvSpPr/>
          <p:nvPr/>
        </p:nvSpPr>
        <p:spPr>
          <a:xfrm>
            <a:off x="8107680" y="2194560"/>
            <a:ext cx="3413760" cy="1554480"/>
          </a:xfrm>
          <a:prstGeom prst="roundRect">
            <a:avLst>
              <a:gd name="adj" fmla="val 5882"/>
            </a:avLst>
          </a:prstGeom>
          <a:solidFill>
            <a:srgbClr val="0C6070"/>
          </a:solidFill>
          <a:ln/>
        </p:spPr>
        <p:txBody>
          <a:bodyPr wrap="square" lIns="152400" tIns="203200" rIns="203200" bIns="15240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Класс целиком</a:t>
            </a:r>
            <a:endParaRPr lang="en-US" sz="1600" dirty="0"/>
          </a:p>
          <a:p>
            <a:pPr algn="l" indent="0" marL="0">
              <a:buNone/>
            </a:pPr>
            <a:r>
              <a:rPr lang="en-US" sz="6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C5DADD"/>
                </a:solidFill>
              </a:rPr>
              <a:t>учитель открывает тренажёр для всего класса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0233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C5DADD"/>
                </a:solidFill>
              </a:rPr>
              <a:t>Начать можно с одного класса: тренажёр ничего не стоит и не требует разрешений — достаточно открыть ссылку</a:t>
            </a:r>
            <a:endParaRPr lang="en-US" sz="1500" dirty="0"/>
          </a:p>
        </p:txBody>
      </p:sp>
      <p:sp>
        <p:nvSpPr>
          <p:cNvPr id="7" name="подпись"/>
          <p:cNvSpPr txBox="1"/>
          <p:nvPr/>
        </p:nvSpPr>
        <p:spPr>
          <a:xfrm>
            <a:off x="640080" y="48920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2C39A"/>
                </a:solidFill>
              </a:rPr>
              <a:t>govor.tatnet.app</a:t>
            </a:r>
            <a:endParaRPr lang="en-US" sz="2200" dirty="0"/>
          </a:p>
          <a:p>
            <a:pPr indent="0" marL="0">
              <a:buNone/>
            </a:pPr>
            <a:r>
              <a:rPr lang="en-US" sz="1500" dirty="0">
                <a:solidFill>
                  <a:srgbClr val="8FAEB3"/>
                </a:solidFill>
              </a:rPr>
              <a:t>Спасибо. Готов ответить на вопросы</a:t>
            </a:r>
            <a:endParaRPr lang="en-US" sz="22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2200" dirty="0"/>
          </a:p>
          <a:p>
            <a:pPr indent="0" marL="0">
              <a:buNone/>
            </a:pPr>
            <a:r>
              <a:rPr lang="en-US" sz="1300" dirty="0">
                <a:solidFill>
                  <a:srgbClr val="6E8E94"/>
                </a:solidFill>
              </a:rPr>
              <a:t>Фамилия Имя · Лицей-интернат имени Мустафы Онджеля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pokoyno">
  <a:themeElements>
    <a:clrScheme name="Spokoyno">
      <a:dk1>
        <a:srgbClr val="16262B"/>
      </a:dk1>
      <a:lt1>
        <a:srgbClr val="FFFFFF"/>
      </a:lt1>
      <a:dk2>
        <a:srgbClr val="04414F"/>
      </a:dk2>
      <a:lt2>
        <a:srgbClr val="F1F8F8"/>
      </a:lt2>
      <a:accent1>
        <a:srgbClr val="028090"/>
      </a:accent1>
      <a:accent2>
        <a:srgbClr val="00A896"/>
      </a:accent2>
      <a:accent3>
        <a:srgbClr val="6B7B80"/>
      </a:accent3>
      <a:accent4>
        <a:srgbClr val="02C39A"/>
      </a:accent4>
      <a:accent5>
        <a:srgbClr val="0C6070"/>
      </a:accent5>
      <a:accent6>
        <a:srgbClr val="D5E4E6"/>
      </a:accent6>
      <a:hlink>
        <a:srgbClr val="028090"/>
      </a:hlink>
      <a:folHlink>
        <a:srgbClr val="6B7B80"/>
      </a:folHlink>
    </a:clrScheme>
    <a:fontScheme name="Spokoyn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Спокойно у доски — тренажёр для школьников</dc:title>
  <dc:subject>PptxGenJS Presentation</dc:subject>
  <dc:creator>Проект «Спокойно у доски»</dc:creator>
  <cp:lastModifiedBy>Проект «Спокойно у доски»</cp:lastModifiedBy>
  <cp:revision>1</cp:revision>
  <dcterms:created xsi:type="dcterms:W3CDTF">2026-10-28T06:28:11Z</dcterms:created>
  <dcterms:modified xsi:type="dcterms:W3CDTF">2026-10-28T06:28:11Z</dcterms:modified>
</cp:coreProperties>
</file>