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b3709cfc-e0e4-ca36-9002-1a257c5a0898}">
          <p14:sldIdLst>
            <p14:sldId id="256"/>
          </p14:sldIdLst>
        </p14:section>
        <p14:section name="Проблема" id="{0430261f-54ec-ec97-a98f-140ebfae3a87}">
          <p14:sldIdLst>
            <p14:sldId id="257"/>
          </p14:sldIdLst>
        </p14:section>
        <p14:section name="Решение" id="{000d24fe-b3ef-7932-d52c-a2a16e5d1f65}">
          <p14:sldIdLst>
            <p14:sldId id="258"/>
          </p14:sldIdLst>
        </p14:section>
        <p14:section name="Рынок" id="{df04bf14-b21a-482d-5790-f7c9a7304b63}">
          <p14:sldIdLst>
            <p14:sldId id="259"/>
          </p14:sldIdLst>
        </p14:section>
        <p14:section name="Итог" id="{9e04cc75-4a9d-fef1-536d-1e86949156b6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Представиться. Назвать проект одной фразой: площадка, где жители посёлка продают друг другу домашнюю еду и видят, кто торгует на соседней улице.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Историю про клубнику рассказать своими словами, не читать. Сразу подчеркнуть, что это пример: та же задача у домашних поваров и мини-пекарен в городе. Цифры — Минсельхоз Татарстана.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показать карту с расстоянием — этого нет ни в чате, ни на Авито. Остальное перечислять бегло.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спросят про холодный старт — отвечать честно: начинаем с десятка знакомых продавцов, которых в посёлке и так все знают, первые отзывы появятся за неделю.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том, что решение подходит любому селу, и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3E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B"/>
                </a:solidFill>
              </a:rPr>
              <a:t>СвояЕда · площадка для домашних продавцов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46B"/>
                </a:solidFill>
              </a:rPr>
              <a:t>СвояЕда · площадка для домашних продавцов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СвояЕда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4231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7D9E4F"/>
                </a:solidFill>
              </a:rPr>
              <a:t>Свежее от своих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8DDCB"/>
                </a:solidFill>
              </a:rPr>
              <a:t>Домашние повара, мини-пекарни, огородники и бабушки с картошкой — всё на одной карте рядом с вами</a:t>
            </a:r>
            <a:endParaRPr lang="en-US" sz="1700" dirty="0"/>
          </a:p>
        </p:txBody>
      </p:sp>
      <p:sp>
        <p:nvSpPr>
          <p:cNvPr id="5" name="подпись"/>
          <p:cNvSpPr txBox="1"/>
          <p:nvPr/>
        </p:nvSpPr>
        <p:spPr>
          <a:xfrm>
            <a:off x="640080" y="40233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Фазуллин Амир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E8DDCB"/>
                </a:solidFill>
              </a:rPr>
              <a:t>Лицей-интернат имени Мустафы Онджеля</a:t>
            </a:r>
            <a:endParaRPr lang="en-US" sz="19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BCAC92"/>
                </a:solidFill>
              </a:rPr>
              <a:t>Конкурс «Дай 5!» · ИТ-парк Татарстана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E2B14"/>
                </a:solidFill>
              </a:rPr>
              <a:t>Рядом, но не находят друг друга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Бабушка в Урусу собрала ведро клубники. Через два дня она испортится. Ехать на рынок — стоять там полдня. Выложить на Авито — пока найдут и договорятся, ягоды пропадут. А на соседней улице есть человек, который купил бы её сегодня вечером.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7A746B"/>
                </a:solidFill>
              </a:rPr>
              <a:t>То же самое у домашнего повара в городе, у мини-пекарни и у любого, кто готовит или выращивает на продажу</a:t>
            </a:r>
            <a:endParaRPr lang="en-US" sz="1500" dirty="0"/>
          </a:p>
        </p:txBody>
      </p:sp>
      <p:sp>
        <p:nvSpPr>
          <p:cNvPr id="5" name="лпх"/>
          <p:cNvSpPr/>
          <p:nvPr/>
        </p:nvSpPr>
        <p:spPr>
          <a:xfrm>
            <a:off x="640080" y="2606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8761F"/>
                </a:solidFill>
              </a:rPr>
              <a:t>401 000</a:t>
            </a:r>
            <a:endParaRPr lang="en-US" sz="34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7A746B"/>
                </a:solidFill>
              </a:rPr>
              <a:t>личных подсобных хозяйств в Татарстане — данные Минсельхоза РТ</a:t>
            </a:r>
            <a:endParaRPr lang="en-US" sz="3400" dirty="0"/>
          </a:p>
        </p:txBody>
      </p:sp>
      <p:sp>
        <p:nvSpPr>
          <p:cNvPr id="6" name="объём"/>
          <p:cNvSpPr/>
          <p:nvPr/>
        </p:nvSpPr>
        <p:spPr>
          <a:xfrm>
            <a:off x="4389120" y="2606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61F"/>
                </a:solidFill>
              </a:rPr>
              <a:t>142 млрд ₽</a:t>
            </a:r>
            <a:endParaRPr lang="en-US" sz="2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2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7A746B"/>
                </a:solidFill>
              </a:rPr>
              <a:t>продукции в год от малых хозяйств — 42% всего сельхозпроизводства республики</a:t>
            </a:r>
            <a:endParaRPr lang="en-US" sz="2800" dirty="0"/>
          </a:p>
        </p:txBody>
      </p:sp>
      <p:sp>
        <p:nvSpPr>
          <p:cNvPr id="7" name="срок"/>
          <p:cNvSpPr/>
          <p:nvPr/>
        </p:nvSpPr>
        <p:spPr>
          <a:xfrm>
            <a:off x="8138160" y="2606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8761F"/>
                </a:solidFill>
              </a:rPr>
              <a:t>2 дня</a:t>
            </a:r>
            <a:endParaRPr lang="en-US" sz="34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7A746B"/>
                </a:solidFill>
              </a:rPr>
              <a:t>столько живёт свежая ягода — продать нужно сегодня, а не через неделю</a:t>
            </a:r>
            <a:endParaRPr lang="en-US" sz="3400" dirty="0"/>
          </a:p>
        </p:txBody>
      </p:sp>
      <p:sp>
        <p:nvSpPr>
          <p:cNvPr id="8" name="суть"/>
          <p:cNvSpPr/>
          <p:nvPr/>
        </p:nvSpPr>
        <p:spPr>
          <a:xfrm>
            <a:off x="640080" y="44805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DF1E9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2B14"/>
                </a:solidFill>
              </a:rPr>
              <a:t>Суть проблемы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Нет простого места, где видно, что продаётся рядом с тобой прямо сейчас. Рынок далеко, чат тонет, а большие площадки рассчитаны на доставку через всю страну.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E2B14"/>
                </a:solidFill>
              </a:rPr>
              <a:t>Сосед видит соседа</a:t>
            </a:r>
            <a:endParaRPr lang="en-US" sz="3800" dirty="0"/>
          </a:p>
        </p:txBody>
      </p:sp>
      <p:sp>
        <p:nvSpPr>
          <p:cNvPr id="3" name="карта"/>
          <p:cNvSpPr/>
          <p:nvPr/>
        </p:nvSpPr>
        <p:spPr>
          <a:xfrm>
            <a:off x="640080" y="1600200"/>
            <a:ext cx="33832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Карта и расстояние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Видно, кто продаёт рядом и сколько до него идти</a:t>
            </a:r>
            <a:endParaRPr lang="en-US" sz="1600" dirty="0"/>
          </a:p>
        </p:txBody>
      </p:sp>
      <p:sp>
        <p:nvSpPr>
          <p:cNvPr id="4" name="каталог"/>
          <p:cNvSpPr/>
          <p:nvPr/>
        </p:nvSpPr>
        <p:spPr>
          <a:xfrm>
            <a:off x="4389120" y="1600200"/>
            <a:ext cx="33832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Каталог с ценой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Товар, цена, единица — клубника, 250 ₽ за ведро</a:t>
            </a:r>
            <a:endParaRPr lang="en-US" sz="1600" dirty="0"/>
          </a:p>
        </p:txBody>
      </p:sp>
      <p:sp>
        <p:nvSpPr>
          <p:cNvPr id="5" name="отзывы"/>
          <p:cNvSpPr/>
          <p:nvPr/>
        </p:nvSpPr>
        <p:spPr>
          <a:xfrm>
            <a:off x="8138160" y="1600200"/>
            <a:ext cx="33832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Отзывы и рейтинг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Видно, у кого покупать второй раз</a:t>
            </a:r>
            <a:endParaRPr lang="en-US" sz="1600" dirty="0"/>
          </a:p>
        </p:txBody>
      </p:sp>
      <p:sp>
        <p:nvSpPr>
          <p:cNvPr id="6" name="самовывоз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Самовывоз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Забрал по пути, без доставки</a:t>
            </a:r>
            <a:endParaRPr lang="en-US" sz="1600" dirty="0"/>
          </a:p>
        </p:txBody>
      </p:sp>
      <p:sp>
        <p:nvSpPr>
          <p:cNvPr id="7" name="роли"/>
          <p:cNvSpPr/>
          <p:nvPr/>
        </p:nvSpPr>
        <p:spPr>
          <a:xfrm>
            <a:off x="4389120" y="33832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Две роли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Покупать или стать продавцом</a:t>
            </a:r>
            <a:endParaRPr lang="en-US" sz="1600" dirty="0"/>
          </a:p>
        </p:txBody>
      </p:sp>
      <p:sp>
        <p:nvSpPr>
          <p:cNvPr id="8" name="телефон"/>
          <p:cNvSpPr/>
          <p:nvPr/>
        </p:nvSpPr>
        <p:spPr>
          <a:xfrm>
            <a:off x="8138160" y="33832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DED5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61F"/>
                </a:solidFill>
              </a:rPr>
              <a:t>Телефон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Открывается в браузере, ставить нечего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2B14"/>
                </a:solidFill>
              </a:rPr>
              <a:t>Бабушке не нужен компьютер: выложила с телефона — и соседи увидели в тот же вечер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E2B14"/>
                </a:solidFill>
              </a:rPr>
              <a:t>Почему не чат и не Авито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2B14"/>
                </a:solidFill>
              </a:rPr>
              <a:t>В сельском чате объявление тонет за час, и всё равно не знаешь, у кого клубника вкусная. На сайте у продавца остаются отзывы — сразу видно, к кому идти второй раз.</a:t>
            </a:r>
            <a:endParaRPr lang="en-US" sz="15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37744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продают сейчас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ждать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Видно, кто рядом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репутация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 в райцентре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полдня стоять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Чат посёлка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тонет за 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Авито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7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«СвояЕда»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тот же вечер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на карте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319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отзывы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E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4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03120"/>
            <a:ext cx="3413760" cy="1280160"/>
          </a:xfrm>
          <a:prstGeom prst="roundRect">
            <a:avLst>
              <a:gd name="adj" fmla="val 7143"/>
            </a:avLst>
          </a:prstGeom>
          <a:solidFill>
            <a:srgbClr val="5A3F1E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Первые продавцы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8DDCB"/>
                </a:solidFill>
              </a:rPr>
              <a:t>начать с тех, кого в районе уже знают</a:t>
            </a:r>
            <a:endParaRPr lang="en-US" sz="1600" dirty="0"/>
          </a:p>
        </p:txBody>
      </p:sp>
      <p:sp>
        <p:nvSpPr>
          <p:cNvPr id="4" name="план 2"/>
          <p:cNvSpPr/>
          <p:nvPr/>
        </p:nvSpPr>
        <p:spPr>
          <a:xfrm>
            <a:off x="4373880" y="2103120"/>
            <a:ext cx="3413760" cy="1280160"/>
          </a:xfrm>
          <a:prstGeom prst="roundRect">
            <a:avLst>
              <a:gd name="adj" fmla="val 7143"/>
            </a:avLst>
          </a:prstGeom>
          <a:solidFill>
            <a:srgbClr val="5A3F1E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Новые районы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8DDCB"/>
                </a:solidFill>
              </a:rPr>
              <a:t>та же схема без переделок</a:t>
            </a:r>
            <a:endParaRPr lang="en-US" sz="1600" dirty="0"/>
          </a:p>
        </p:txBody>
      </p:sp>
      <p:sp>
        <p:nvSpPr>
          <p:cNvPr id="5" name="план 3"/>
          <p:cNvSpPr/>
          <p:nvPr/>
        </p:nvSpPr>
        <p:spPr>
          <a:xfrm>
            <a:off x="8107680" y="2103120"/>
            <a:ext cx="3413760" cy="1280160"/>
          </a:xfrm>
          <a:prstGeom prst="roundRect">
            <a:avLst>
              <a:gd name="adj" fmla="val 7143"/>
            </a:avLst>
          </a:prstGeom>
          <a:solidFill>
            <a:srgbClr val="5A3F1E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Уведомления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8DDCB"/>
                </a:solidFill>
              </a:rPr>
              <a:t>«рядом появилась клубника»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8DDCB"/>
                </a:solidFill>
              </a:rPr>
              <a:t>401 тысяча хозяйств в одном Татарстане — и столько же домашних кухонь в городах. Площадка работает одинаково везде</a:t>
            </a:r>
            <a:endParaRPr lang="en-US" sz="15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40080" y="420624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D9E4F"/>
                </a:solidFill>
              </a:rPr>
              <a:t>svoya-eda.tatnet.app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BCAC92"/>
                </a:solidFill>
              </a:rPr>
              <a:t>Спасибо. Готов ответить на вопросы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9A8B74"/>
                </a:solidFill>
              </a:rPr>
              <a:t>Фазуллин Амир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9A8B74"/>
                </a:solidFill>
              </a:rPr>
              <a:t>Лицей-интернат имени Мустафы Онджеля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oyaEda">
  <a:themeElements>
    <a:clrScheme name="SvoyaEda">
      <a:dk1>
        <a:srgbClr val="23190E"/>
      </a:dk1>
      <a:lt1>
        <a:srgbClr val="FFFFFF"/>
      </a:lt1>
      <a:dk2>
        <a:srgbClr val="3E2B14"/>
      </a:dk2>
      <a:lt2>
        <a:srgbClr val="EDF1E9"/>
      </a:lt2>
      <a:accent1>
        <a:srgbClr val="B8761F"/>
      </a:accent1>
      <a:accent2>
        <a:srgbClr val="8C5A15"/>
      </a:accent2>
      <a:accent3>
        <a:srgbClr val="7A746B"/>
      </a:accent3>
      <a:accent4>
        <a:srgbClr val="7D9E4F"/>
      </a:accent4>
      <a:accent5>
        <a:srgbClr val="6E4610"/>
      </a:accent5>
      <a:accent6>
        <a:srgbClr val="E3DED5"/>
      </a:accent6>
      <a:hlink>
        <a:srgbClr val="B8761F"/>
      </a:hlink>
      <a:folHlink>
        <a:srgbClr val="7A746B"/>
      </a:folHlink>
    </a:clrScheme>
    <a:fontScheme name="SvoyaE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СвояЕда — площадка для домашних продавцов</dc:title>
  <dc:subject>PptxGenJS Presentation</dc:subject>
  <dc:creator>Проект «СвояЕда»</dc:creator>
  <cp:lastModifiedBy>Проект «СвояЕда»</cp:lastModifiedBy>
  <cp:revision>1</cp:revision>
  <dcterms:created xsi:type="dcterms:W3CDTF">2026-10-28T07:56:37Z</dcterms:created>
  <dcterms:modified xsi:type="dcterms:W3CDTF">2026-10-28T07:56:37Z</dcterms:modified>
</cp:coreProperties>
</file>