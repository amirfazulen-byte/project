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ткрытие" id="{92f0f5d1-9937-0756-da2e-46a92070a264}">
          <p14:sldIdLst>
            <p14:sldId id="256"/>
          </p14:sldIdLst>
        </p14:section>
        <p14:section name="Проблема" id="{b5672512-8ae7-f6c2-38f5-427f0a3b2554}">
          <p14:sldIdLst>
            <p14:sldId id="257"/>
          </p14:sldIdLst>
        </p14:section>
        <p14:section name="Идея" id="{b64d95e7-999a-bd49-3a53-403b0f2ca3a2}">
          <p14:sldIdLst>
            <p14:sldId id="258"/>
          </p14:sldIdLst>
        </p14:section>
        <p14:section name="Отличие" id="{4eecf868-3f0e-ddbb-41ce-58acad5de609}">
          <p14:sldIdLst>
            <p14:sldId id="259"/>
          </p14:sldIdLst>
        </p14:section>
        <p14:section name="Итог" id="{1303e108-89ab-f783-377d-60375cb2463b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Представиться. Назвать проект одной фразой: площадка, где люди продают друг другу домашнюю еду и видят, кто торгует рядом.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Историю рассказать своими словами. Слушатель должен увидеть картинку: ведро клубники и сосед через улицу. Добавить, что так же живут домашний повар и мини-пекарня.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живой сайт: карточка товара с ценой и отзывы. Остальное перечислить бегло и сразу перейти к возражению.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 холодный старт отвечать честно: начинаем с продавцов, которых в районе и так все знают, первые отзывы появятся за неделю.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Замкнуть историю: начали с ведра клубники, закончили тем, что схема повторяется для любого домашнего продавца. Поблагодарить.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8096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6"/>
                </a:solidFill>
              </a:rPr>
              <a:t>svoya-eda.tatnet.app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логотип"/>
          <p:cNvSpPr txBox="1"/>
          <p:nvPr/>
        </p:nvSpPr>
        <p:spPr>
          <a:xfrm>
            <a:off x="8229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Своя</a:t>
            </a:r>
            <a:pPr indent="0" marL="0">
              <a:buNone/>
            </a:pPr>
            <a:r>
              <a:rPr lang="en-US" sz="1600" b="1" dirty="0">
                <a:solidFill>
                  <a:srgbClr val="1E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Свежее от </a:t>
            </a:r>
            <a:pPr algn="l" indent="0" marL="0">
              <a:buNone/>
            </a:pPr>
            <a:r>
              <a:rPr lang="en-US" sz="5400" i="1" dirty="0">
                <a:solidFill>
                  <a:srgbClr val="1E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своих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B6B66"/>
                </a:solidFill>
              </a:rPr>
              <a:t>Площадка, где видно, кто готовит и выращивает на продажу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6B6B66"/>
                </a:solidFill>
              </a:rPr>
              <a:t>на соседних улицах. Дальше — одна история, от ведра клубники до заказа.</a:t>
            </a:r>
            <a:endParaRPr lang="en-US" sz="1900" dirty="0"/>
          </a:p>
        </p:txBody>
      </p:sp>
      <p:sp>
        <p:nvSpPr>
          <p:cNvPr id="5" name="метка 1"/>
          <p:cNvSpPr/>
          <p:nvPr/>
        </p:nvSpPr>
        <p:spPr>
          <a:xfrm>
            <a:off x="822960" y="4251960"/>
            <a:ext cx="1737360" cy="384048"/>
          </a:xfrm>
          <a:prstGeom prst="roundRect">
            <a:avLst>
              <a:gd name="adj" fmla="val 119048"/>
            </a:avLst>
          </a:prstGeom>
          <a:solidFill>
            <a:srgbClr val="E3F0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B33"/>
                </a:solidFill>
              </a:rPr>
              <a:t>Самовывоз</a:t>
            </a:r>
            <a:endParaRPr lang="en-US" sz="1300" dirty="0"/>
          </a:p>
        </p:txBody>
      </p:sp>
      <p:sp>
        <p:nvSpPr>
          <p:cNvPr id="6" name="метка 2"/>
          <p:cNvSpPr/>
          <p:nvPr/>
        </p:nvSpPr>
        <p:spPr>
          <a:xfrm>
            <a:off x="2743200" y="4251960"/>
            <a:ext cx="2103120" cy="384048"/>
          </a:xfrm>
          <a:prstGeom prst="roundRect">
            <a:avLst>
              <a:gd name="adj" fmla="val 119048"/>
            </a:avLst>
          </a:prstGeom>
          <a:solidFill>
            <a:srgbClr val="E3F0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B33"/>
                </a:solidFill>
              </a:rPr>
              <a:t>Рядом с вами</a:t>
            </a:r>
            <a:endParaRPr lang="en-US" sz="1300" dirty="0"/>
          </a:p>
        </p:txBody>
      </p:sp>
      <p:sp>
        <p:nvSpPr>
          <p:cNvPr id="7" name="метка 3"/>
          <p:cNvSpPr/>
          <p:nvPr/>
        </p:nvSpPr>
        <p:spPr>
          <a:xfrm>
            <a:off x="5029200" y="4251960"/>
            <a:ext cx="1920240" cy="384048"/>
          </a:xfrm>
          <a:prstGeom prst="roundRect">
            <a:avLst>
              <a:gd name="adj" fmla="val 119048"/>
            </a:avLst>
          </a:prstGeom>
          <a:solidFill>
            <a:srgbClr val="E3F0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B33"/>
                </a:solidFill>
              </a:rPr>
              <a:t>Свои люди</a:t>
            </a:r>
            <a:endParaRPr lang="en-US" sz="1300" dirty="0"/>
          </a:p>
        </p:txBody>
      </p:sp>
      <p:sp>
        <p:nvSpPr>
          <p:cNvPr id="8" name="подпись"/>
          <p:cNvSpPr txBox="1"/>
          <p:nvPr/>
        </p:nvSpPr>
        <p:spPr>
          <a:xfrm>
            <a:off x="822960" y="5120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7"/>
                </a:solidFill>
              </a:rPr>
              <a:t>Хамитов Амир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6B6B66"/>
                </a:solidFill>
              </a:rPr>
              <a:t>Лицей-интернат имени Мустафы Онджеля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логотип"/>
          <p:cNvSpPr txBox="1"/>
          <p:nvPr/>
        </p:nvSpPr>
        <p:spPr>
          <a:xfrm>
            <a:off x="8229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Своя</a:t>
            </a:r>
            <a:pPr indent="0" marL="0">
              <a:buNone/>
            </a:pPr>
            <a:r>
              <a:rPr lang="en-US" sz="1600" b="1" dirty="0">
                <a:solidFill>
                  <a:srgbClr val="1E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еда</a:t>
            </a:r>
            <a:endParaRPr lang="en-US" sz="1600" dirty="0"/>
          </a:p>
        </p:txBody>
      </p:sp>
      <p:sp>
        <p:nvSpPr>
          <p:cNvPr id="3" name="шаг"/>
          <p:cNvSpPr txBox="1"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3"/>
                </a:solidFill>
              </a:rPr>
              <a:t>ШАГ 1 · КАК ПРОДАЮТ СЕЙЧАС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Рядом, но </a:t>
            </a:r>
            <a:pPr algn="l" indent="0" marL="0">
              <a:buNone/>
            </a:pPr>
            <a:r>
              <a:rPr lang="en-US" sz="3800" i="1" dirty="0">
                <a:solidFill>
                  <a:srgbClr val="1E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находят</a:t>
            </a:r>
            <a:pPr algn="l" indent="0" marL="0">
              <a:buNone/>
            </a:pPr>
            <a:r>
              <a:rPr lang="en-US" sz="3800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друг друга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7"/>
                </a:solidFill>
              </a:rPr>
              <a:t>Моя бабушка собрала ведро клубники. На соседней улице есть человек, который купил бы его сегодня вечером. Они друг о друге не знают.</a:t>
            </a:r>
            <a:endParaRPr lang="en-US" sz="2000" dirty="0"/>
          </a:p>
        </p:txBody>
      </p:sp>
      <p:sp>
        <p:nvSpPr>
          <p:cNvPr id="6" name="рынок"/>
          <p:cNvSpPr/>
          <p:nvPr/>
        </p:nvSpPr>
        <p:spPr>
          <a:xfrm>
            <a:off x="822960" y="329184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E6DF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Рынок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</a:rPr>
              <a:t>Ехать в райцентр и стоять там полдня ради одного ведра</a:t>
            </a:r>
            <a:endParaRPr lang="en-US" sz="1600" dirty="0"/>
          </a:p>
        </p:txBody>
      </p:sp>
      <p:sp>
        <p:nvSpPr>
          <p:cNvPr id="7" name="чат"/>
          <p:cNvSpPr/>
          <p:nvPr/>
        </p:nvSpPr>
        <p:spPr>
          <a:xfrm>
            <a:off x="4434840" y="329184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E6DF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 посёлка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</a:rPr>
              <a:t>Объявление тонет за час, и непонятно, у кого вкусно</a:t>
            </a:r>
            <a:endParaRPr lang="en-US" sz="1600" dirty="0"/>
          </a:p>
        </p:txBody>
      </p:sp>
      <p:sp>
        <p:nvSpPr>
          <p:cNvPr id="8" name="никак"/>
          <p:cNvSpPr/>
          <p:nvPr/>
        </p:nvSpPr>
        <p:spPr>
          <a:xfrm>
            <a:off x="8046720" y="329184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E6DF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Никому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</a:rPr>
              <a:t>Ведро остаётся дома и через два дня пропадает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B66"/>
                </a:solidFill>
              </a:rPr>
              <a:t>Клубника живёт два дня — покупателя надо найти сегодня. И он есть, в трёх домах отсюда.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логотип"/>
          <p:cNvSpPr txBox="1"/>
          <p:nvPr/>
        </p:nvSpPr>
        <p:spPr>
          <a:xfrm>
            <a:off x="8229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Своя</a:t>
            </a:r>
            <a:pPr indent="0" marL="0">
              <a:buNone/>
            </a:pPr>
            <a:r>
              <a:rPr lang="en-US" sz="1600" b="1" dirty="0">
                <a:solidFill>
                  <a:srgbClr val="1E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еда</a:t>
            </a:r>
            <a:endParaRPr lang="en-US" sz="1600" dirty="0"/>
          </a:p>
        </p:txBody>
      </p:sp>
      <p:sp>
        <p:nvSpPr>
          <p:cNvPr id="3" name="шаг"/>
          <p:cNvSpPr txBox="1"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3"/>
                </a:solidFill>
              </a:rPr>
              <a:t>ШАГ 2 · ЧТО ДЕЛАЕТ «СВОЯЕДА»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 же ведро, но его </a:t>
            </a:r>
            <a:pPr algn="l" indent="0" marL="0">
              <a:buNone/>
            </a:pPr>
            <a:r>
              <a:rPr lang="en-US" sz="3800" i="1" dirty="0">
                <a:solidFill>
                  <a:srgbClr val="1E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видно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B6B66"/>
                </a:solidFill>
              </a:rPr>
              <a:t>Бабушка выкладывает клубнику за минуту — и её сразу видят соседи</a:t>
            </a:r>
            <a:endParaRPr lang="en-US" sz="1900" dirty="0"/>
          </a:p>
        </p:txBody>
      </p:sp>
      <p:sp>
        <p:nvSpPr>
          <p:cNvPr id="6" name="каталог"/>
          <p:cNvSpPr/>
          <p:nvPr/>
        </p:nvSpPr>
        <p:spPr>
          <a:xfrm>
            <a:off x="822960" y="274320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6E6DF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Товар и цена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</a:rPr>
              <a:t>Фотография, цена и единица — клубника, ведро</a:t>
            </a:r>
            <a:endParaRPr lang="en-US" sz="1600" dirty="0"/>
          </a:p>
        </p:txBody>
      </p:sp>
      <p:sp>
        <p:nvSpPr>
          <p:cNvPr id="7" name="отзывы"/>
          <p:cNvSpPr/>
          <p:nvPr/>
        </p:nvSpPr>
        <p:spPr>
          <a:xfrm>
            <a:off x="4434840" y="274320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6E6DF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Отзывы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</a:rPr>
              <a:t>Видно, у кого покупать второй раз</a:t>
            </a:r>
            <a:endParaRPr lang="en-US" sz="1600" dirty="0"/>
          </a:p>
        </p:txBody>
      </p:sp>
      <p:sp>
        <p:nvSpPr>
          <p:cNvPr id="8" name="самовывоз"/>
          <p:cNvSpPr/>
          <p:nvPr/>
        </p:nvSpPr>
        <p:spPr>
          <a:xfrm>
            <a:off x="8046720" y="274320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6E6DF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Самовывоз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</a:rPr>
              <a:t>Забрал по пути, без доставки и курьеров</a:t>
            </a:r>
            <a:endParaRPr lang="en-US" sz="1600" dirty="0"/>
          </a:p>
        </p:txBody>
      </p:sp>
      <p:sp>
        <p:nvSpPr>
          <p:cNvPr id="9" name="роли"/>
          <p:cNvSpPr/>
          <p:nvPr/>
        </p:nvSpPr>
        <p:spPr>
          <a:xfrm>
            <a:off x="822960" y="416052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6E6DF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роли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</a:rPr>
              <a:t>Покупать или стать продавцом — в один клик</a:t>
            </a:r>
            <a:endParaRPr lang="en-US" sz="1600" dirty="0"/>
          </a:p>
        </p:txBody>
      </p:sp>
      <p:sp>
        <p:nvSpPr>
          <p:cNvPr id="10" name="телефон"/>
          <p:cNvSpPr/>
          <p:nvPr/>
        </p:nvSpPr>
        <p:spPr>
          <a:xfrm>
            <a:off x="4434840" y="416052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6E6DF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телефона</a:t>
            </a:r>
            <a:endParaRPr lang="en-US" sz="1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</a:rPr>
              <a:t>Открывается в браузере, ставить ничего не нужно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B66"/>
                </a:solidFill>
              </a:rPr>
              <a:t>Ведро уходит в тот же вечер. Тут обычно спрашивают: а чем не подошли чат и Авито?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логотип"/>
          <p:cNvSpPr txBox="1"/>
          <p:nvPr/>
        </p:nvSpPr>
        <p:spPr>
          <a:xfrm>
            <a:off x="8229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Своя</a:t>
            </a:r>
            <a:pPr indent="0" marL="0">
              <a:buNone/>
            </a:pPr>
            <a:r>
              <a:rPr lang="en-US" sz="1600" b="1" dirty="0">
                <a:solidFill>
                  <a:srgbClr val="1E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еда</a:t>
            </a:r>
            <a:endParaRPr lang="en-US" sz="1600" dirty="0"/>
          </a:p>
        </p:txBody>
      </p:sp>
      <p:sp>
        <p:nvSpPr>
          <p:cNvPr id="3" name="шаг"/>
          <p:cNvSpPr txBox="1"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3"/>
                </a:solidFill>
              </a:rPr>
              <a:t>ШАГ 3 · ВОЗРАЖЕНИЕ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Авито про вещи, мы — </a:t>
            </a:r>
            <a:pPr algn="l" indent="0" marL="0">
              <a:buNone/>
            </a:pPr>
            <a:r>
              <a:rPr lang="en-US" sz="3800" i="1" dirty="0">
                <a:solidFill>
                  <a:srgbClr val="1E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 ужин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7"/>
                </a:solidFill>
              </a:rPr>
              <a:t>На Авито ищут диван и телефон, а не ведро клубники: объявление видно по всему городу, сделка идёт днями, а за свежей ягодой никто не поедет через полгорода. В чате объявление тонет за час, и всё равно непонятно, у кого вкусно.</a:t>
            </a:r>
            <a:endParaRPr lang="en-US" sz="1700" dirty="0"/>
          </a:p>
        </p:txBody>
      </p:sp>
      <p:graphicFrame>
        <p:nvGraphicFramePr>
          <p:cNvPr id="5" name="сравнение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91840"/>
          <a:ext cx="105156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Где продают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ждать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Видно, кто рядом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 репутация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Рынок в райцентре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полдня стоять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Чат посёлка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тонет за час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Авито и доски объявлений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дни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нет, весь город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6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«СвояЕда»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тот же вечер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соседи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отзывы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B66"/>
                </a:solidFill>
              </a:rPr>
              <a:t>Еду рядом ищут не так, как диван в другом конце города. Поэтому для неё нужна своя площадка.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логотип"/>
          <p:cNvSpPr txBox="1"/>
          <p:nvPr/>
        </p:nvSpPr>
        <p:spPr>
          <a:xfrm>
            <a:off x="8229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Своя</a:t>
            </a:r>
            <a:pPr indent="0" marL="0">
              <a:buNone/>
            </a:pPr>
            <a:r>
              <a:rPr lang="en-US" sz="1600" b="1" dirty="0">
                <a:solidFill>
                  <a:srgbClr val="1E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еда</a:t>
            </a:r>
            <a:endParaRPr lang="en-US" sz="1600" dirty="0"/>
          </a:p>
        </p:txBody>
      </p:sp>
      <p:sp>
        <p:nvSpPr>
          <p:cNvPr id="3" name="шаг"/>
          <p:cNvSpPr txBox="1"/>
          <p:nvPr/>
        </p:nvSpPr>
        <p:spPr>
          <a:xfrm>
            <a:off x="822960" y="914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33"/>
                </a:solidFill>
              </a:rPr>
              <a:t>ШАГ 4 · ЧТО ДАЛЬШЕ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ведро — и </a:t>
            </a:r>
            <a:pPr algn="l" indent="0" marL="0">
              <a:buNone/>
            </a:pPr>
            <a:r>
              <a:rPr lang="en-US" sz="3800" i="1" dirty="0">
                <a:solidFill>
                  <a:srgbClr val="1E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 же всё остальное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6B6B66"/>
                </a:solidFill>
              </a:rPr>
              <a:t>С клубникой получилось. Ровно так же продаются домашняя выпечка, мёд, молоко и обеды — и в селе, и в городе: везде есть те, кто готовит, и те, кто рад купить рядом с домом.</a:t>
            </a:r>
            <a:endParaRPr lang="en-US" sz="1800" dirty="0"/>
          </a:p>
        </p:txBody>
      </p:sp>
      <p:sp>
        <p:nvSpPr>
          <p:cNvPr id="6" name="план 1"/>
          <p:cNvSpPr/>
          <p:nvPr/>
        </p:nvSpPr>
        <p:spPr>
          <a:xfrm>
            <a:off x="822960" y="347472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6E6DF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Первые продавцы</a:t>
            </a:r>
            <a:endParaRPr lang="en-US" sz="15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6B66"/>
                </a:solidFill>
              </a:rPr>
              <a:t>те, кого в районе уже знают</a:t>
            </a:r>
            <a:endParaRPr lang="en-US" sz="1500" dirty="0"/>
          </a:p>
        </p:txBody>
      </p:sp>
      <p:sp>
        <p:nvSpPr>
          <p:cNvPr id="7" name="план 2"/>
          <p:cNvSpPr/>
          <p:nvPr/>
        </p:nvSpPr>
        <p:spPr>
          <a:xfrm>
            <a:off x="4434840" y="347472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6E6DF"/>
            </a:solidFill>
          </a:ln>
        </p:spPr>
        <p:txBody>
          <a:bodyPr wrap="square" lIns="177800" tIns="203200" rIns="203200" bIns="177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Новые районы</a:t>
            </a:r>
            <a:endParaRPr lang="en-US" sz="15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6B66"/>
                </a:solidFill>
              </a:rPr>
              <a:t>та же схема, без переделок</a:t>
            </a:r>
            <a:endParaRPr lang="en-US" sz="1500" dirty="0"/>
          </a:p>
        </p:txBody>
      </p:sp>
      <p:sp>
        <p:nvSpPr>
          <p:cNvPr id="8" name="финал"/>
          <p:cNvSpPr txBox="1"/>
          <p:nvPr/>
        </p:nvSpPr>
        <p:spPr>
          <a:xfrm>
            <a:off x="822960" y="4983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svoya-eda.tatnet.app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</a:rPr>
              <a:t>Спасибо. Готов ответить на вопросы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voyaEda">
  <a:themeElements>
    <a:clrScheme name="SvoyaEda">
      <a:dk1>
        <a:srgbClr val="1A1A17"/>
      </a:dk1>
      <a:lt1>
        <a:srgbClr val="FFFFFF"/>
      </a:lt1>
      <a:dk2>
        <a:srgbClr val="14331E"/>
      </a:dk2>
      <a:lt2>
        <a:srgbClr val="F7F7F2"/>
      </a:lt2>
      <a:accent1>
        <a:srgbClr val="1E6B33"/>
      </a:accent1>
      <a:accent2>
        <a:srgbClr val="19542A"/>
      </a:accent2>
      <a:accent3>
        <a:srgbClr val="6B6B66"/>
      </a:accent3>
      <a:accent4>
        <a:srgbClr val="3E9455"/>
      </a:accent4>
      <a:accent5>
        <a:srgbClr val="E3F0E6"/>
      </a:accent5>
      <a:accent6>
        <a:srgbClr val="E6E6DF"/>
      </a:accent6>
      <a:hlink>
        <a:srgbClr val="1E6B33"/>
      </a:hlink>
      <a:folHlink>
        <a:srgbClr val="6B6B66"/>
      </a:folHlink>
    </a:clrScheme>
    <a:fontScheme name="SvoyaE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СвояЕда — площадка для домашних продавцов</dc:title>
  <dc:subject>PptxGenJS Presentation</dc:subject>
  <dc:creator>Проект «СвояЕда»</dc:creator>
  <cp:lastModifiedBy>Проект «СвояЕда»</cp:lastModifiedBy>
  <cp:revision>1</cp:revision>
  <dcterms:created xsi:type="dcterms:W3CDTF">2026-10-28T08:14:39Z</dcterms:created>
  <dcterms:modified xsi:type="dcterms:W3CDTF">2026-10-28T08:14:39Z</dcterms:modified>
</cp:coreProperties>
</file>