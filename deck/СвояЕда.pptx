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ткрытие" id="{967e3eec-a24d-1df1-f80b-bcb079a8bf34}">
          <p14:sldIdLst>
            <p14:sldId id="256"/>
          </p14:sldIdLst>
        </p14:section>
        <p14:section name="Проблема" id="{1e044d41-bfdc-39ea-0ef6-ffe677e8692e}">
          <p14:sldIdLst>
            <p14:sldId id="257"/>
          </p14:sldIdLst>
        </p14:section>
        <p14:section name="Решение" id="{afb335e0-ff9b-410a-c1d3-9345b11af591}">
          <p14:sldIdLst>
            <p14:sldId id="258"/>
          </p14:sldIdLst>
        </p14:section>
        <p14:section name="Рынок" id="{79b7e4eb-df1a-137c-463a-8b0b78721d1f}">
          <p14:sldIdLst>
            <p14:sldId id="259"/>
          </p14:sldIdLst>
        </p14:section>
        <p14:section name="Итог" id="{d44bd40a-fafd-e55b-d689-d31c0f30403f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Представиться. Назвать проект одной фразой: площадка, где жители посёлка продают друг другу домашнюю еду и видят, кто торгует на соседней улице.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Историю про клубнику рассказать своими словами, не читать. Цифры: 401 тысяча ЛПХ и 142,2 млрд рублей — Минсельхоз Татарстана. ДОБАВИТЬ число жителей Урусу, если успеешь узнать.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 показать карту с расстоянием — этого нет ни в чате, ни на Авито. Остальное перечислять бегло.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спросят про холодный старт — отвечать честно: начинаем с десятка знакомых продавцов, которых в посёлке и так все знают, первые отзывы появятся за неделю.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Закончить на том, что решение подходит любому селу, и поблагодарить.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3E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46B"/>
                </a:solidFill>
              </a:rPr>
              <a:t>СвояЕда · площадка для домашних продавцов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4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46B"/>
                </a:solidFill>
              </a:rPr>
              <a:t>СвояЕда · площадка для домашних продавцов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4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4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8016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</a:rPr>
              <a:t>СвояЕда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4231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7D9E4F"/>
                </a:solidFill>
              </a:rPr>
              <a:t>Свежее от своих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175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E8DDCB"/>
                </a:solidFill>
              </a:rPr>
              <a:t>Площадка, где соседи продают друг другу домашнюю еду — всё на одной карте рядом с вами</a:t>
            </a:r>
            <a:endParaRPr lang="en-US" sz="1700" dirty="0"/>
          </a:p>
        </p:txBody>
      </p:sp>
      <p:sp>
        <p:nvSpPr>
          <p:cNvPr id="5" name="подпись"/>
          <p:cNvSpPr txBox="1"/>
          <p:nvPr/>
        </p:nvSpPr>
        <p:spPr>
          <a:xfrm>
            <a:off x="640080" y="402336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Фазуллин Амир</a:t>
            </a:r>
            <a:endParaRPr lang="en-US" sz="1900" dirty="0"/>
          </a:p>
          <a:p>
            <a:pPr indent="0" marL="0">
              <a:buNone/>
            </a:pPr>
            <a:r>
              <a:rPr lang="en-US" sz="1500" dirty="0">
                <a:solidFill>
                  <a:srgbClr val="E8DDCB"/>
                </a:solidFill>
              </a:rPr>
              <a:t>Лицей-интернат имени Мустафы Онджеля</a:t>
            </a:r>
            <a:endParaRPr lang="en-US" sz="19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900" dirty="0"/>
          </a:p>
          <a:p>
            <a:pPr indent="0" marL="0">
              <a:buNone/>
            </a:pPr>
            <a:r>
              <a:rPr lang="en-US" sz="1300" dirty="0">
                <a:solidFill>
                  <a:srgbClr val="BCAC92"/>
                </a:solidFill>
              </a:rPr>
              <a:t>Конкурс «Дай 5!» · ИТ-парк Татарстана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E2B14"/>
                </a:solidFill>
              </a:rPr>
              <a:t>Урожай есть, покупателя нет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Бабушка в Урусу собрала ведро клубники. Через два дня она испортится.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Ехать на рынок — стоять там полдня. Выложить на Авито — пока найдут и договорятся, ягоды пропадут. А на соседней улице есть человек, который купил бы её сегодня вечером.</a:t>
            </a:r>
            <a:endParaRPr lang="en-US" sz="1700" dirty="0"/>
          </a:p>
        </p:txBody>
      </p:sp>
      <p:sp>
        <p:nvSpPr>
          <p:cNvPr id="4" name="лпх"/>
          <p:cNvSpPr/>
          <p:nvPr/>
        </p:nvSpPr>
        <p:spPr>
          <a:xfrm>
            <a:off x="640080" y="2468880"/>
            <a:ext cx="33832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3DED5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B8761F"/>
                </a:solidFill>
              </a:rPr>
              <a:t>401 000</a:t>
            </a:r>
            <a:endParaRPr lang="en-US" sz="34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34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7A746B"/>
                </a:solidFill>
              </a:rPr>
              <a:t>личных подсобных хозяйств в Татарстане — данные Минсельхоза РТ</a:t>
            </a:r>
            <a:endParaRPr lang="en-US" sz="3400" dirty="0"/>
          </a:p>
        </p:txBody>
      </p:sp>
      <p:sp>
        <p:nvSpPr>
          <p:cNvPr id="5" name="объём"/>
          <p:cNvSpPr/>
          <p:nvPr/>
        </p:nvSpPr>
        <p:spPr>
          <a:xfrm>
            <a:off x="4389120" y="2468880"/>
            <a:ext cx="33832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3DED5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B8761F"/>
                </a:solidFill>
              </a:rPr>
              <a:t>142 млрд ₽</a:t>
            </a:r>
            <a:endParaRPr lang="en-US" sz="28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28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7A746B"/>
                </a:solidFill>
              </a:rPr>
              <a:t>продукции в год от малых хозяйств — 42% всего сельхозпроизводства республики</a:t>
            </a:r>
            <a:endParaRPr lang="en-US" sz="2800" dirty="0"/>
          </a:p>
        </p:txBody>
      </p:sp>
      <p:sp>
        <p:nvSpPr>
          <p:cNvPr id="6" name="срок"/>
          <p:cNvSpPr/>
          <p:nvPr/>
        </p:nvSpPr>
        <p:spPr>
          <a:xfrm>
            <a:off x="8138160" y="2468880"/>
            <a:ext cx="33832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3DED5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B8761F"/>
                </a:solidFill>
              </a:rPr>
              <a:t>2 дня</a:t>
            </a:r>
            <a:endParaRPr lang="en-US" sz="34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34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7A746B"/>
                </a:solidFill>
              </a:rPr>
              <a:t>столько живёт свежая ягода — продать нужно сегодня, а не через неделю</a:t>
            </a:r>
            <a:endParaRPr lang="en-US" sz="3400" dirty="0"/>
          </a:p>
        </p:txBody>
      </p:sp>
      <p:sp>
        <p:nvSpPr>
          <p:cNvPr id="7" name="суть"/>
          <p:cNvSpPr/>
          <p:nvPr/>
        </p:nvSpPr>
        <p:spPr>
          <a:xfrm>
            <a:off x="640080" y="4434840"/>
            <a:ext cx="10881360" cy="1280160"/>
          </a:xfrm>
          <a:prstGeom prst="roundRect">
            <a:avLst>
              <a:gd name="adj" fmla="val 5714"/>
            </a:avLst>
          </a:prstGeom>
          <a:solidFill>
            <a:srgbClr val="EDF1E9"/>
          </a:solidFill>
          <a:ln/>
        </p:spPr>
        <p:txBody>
          <a:bodyPr wrap="square" lIns="203200" tIns="254000" rIns="254000" bIns="20320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E2B14"/>
                </a:solidFill>
              </a:rPr>
              <a:t>Суть проблемы</a:t>
            </a:r>
            <a:endParaRPr lang="en-US" sz="1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Продавец и покупатель живут рядом, но не знают друг о друге. Нет простого места, где сосед увидит, что у соседа есть на продажу прямо сейчас.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4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E2B14"/>
                </a:solidFill>
              </a:rPr>
              <a:t>Сосед видит соседа</a:t>
            </a:r>
            <a:endParaRPr lang="en-US" sz="3800" dirty="0"/>
          </a:p>
        </p:txBody>
      </p:sp>
      <p:sp>
        <p:nvSpPr>
          <p:cNvPr id="3" name="карта"/>
          <p:cNvSpPr/>
          <p:nvPr/>
        </p:nvSpPr>
        <p:spPr>
          <a:xfrm>
            <a:off x="640080" y="1600200"/>
            <a:ext cx="33832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3DED5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761F"/>
                </a:solidFill>
              </a:rPr>
              <a:t>Карта и расстояние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Видно, кто продаёт рядом и сколько до него идти</a:t>
            </a:r>
            <a:endParaRPr lang="en-US" sz="1600" dirty="0"/>
          </a:p>
        </p:txBody>
      </p:sp>
      <p:sp>
        <p:nvSpPr>
          <p:cNvPr id="4" name="каталог"/>
          <p:cNvSpPr/>
          <p:nvPr/>
        </p:nvSpPr>
        <p:spPr>
          <a:xfrm>
            <a:off x="4389120" y="1600200"/>
            <a:ext cx="33832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3DED5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761F"/>
                </a:solidFill>
              </a:rPr>
              <a:t>Каталог с ценой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Товар, цена, единица — клубника, 250 ₽ за ведро</a:t>
            </a:r>
            <a:endParaRPr lang="en-US" sz="1600" dirty="0"/>
          </a:p>
        </p:txBody>
      </p:sp>
      <p:sp>
        <p:nvSpPr>
          <p:cNvPr id="5" name="отзывы"/>
          <p:cNvSpPr/>
          <p:nvPr/>
        </p:nvSpPr>
        <p:spPr>
          <a:xfrm>
            <a:off x="8138160" y="1600200"/>
            <a:ext cx="33832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3DED5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761F"/>
                </a:solidFill>
              </a:rPr>
              <a:t>Отзывы и рейтинг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Видно, у кого покупать второй раз</a:t>
            </a:r>
            <a:endParaRPr lang="en-US" sz="1600" dirty="0"/>
          </a:p>
        </p:txBody>
      </p:sp>
      <p:sp>
        <p:nvSpPr>
          <p:cNvPr id="6" name="самовывоз"/>
          <p:cNvSpPr/>
          <p:nvPr/>
        </p:nvSpPr>
        <p:spPr>
          <a:xfrm>
            <a:off x="640080" y="338328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DED5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761F"/>
                </a:solidFill>
              </a:rPr>
              <a:t>Самовывоз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Забрал по пути, без доставки</a:t>
            </a:r>
            <a:endParaRPr lang="en-US" sz="1600" dirty="0"/>
          </a:p>
        </p:txBody>
      </p:sp>
      <p:sp>
        <p:nvSpPr>
          <p:cNvPr id="7" name="роли"/>
          <p:cNvSpPr/>
          <p:nvPr/>
        </p:nvSpPr>
        <p:spPr>
          <a:xfrm>
            <a:off x="4389120" y="338328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DED5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761F"/>
                </a:solidFill>
              </a:rPr>
              <a:t>Две роли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Покупать или стать продавцом</a:t>
            </a:r>
            <a:endParaRPr lang="en-US" sz="1600" dirty="0"/>
          </a:p>
        </p:txBody>
      </p:sp>
      <p:sp>
        <p:nvSpPr>
          <p:cNvPr id="8" name="телефон"/>
          <p:cNvSpPr/>
          <p:nvPr/>
        </p:nvSpPr>
        <p:spPr>
          <a:xfrm>
            <a:off x="8138160" y="338328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DED5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761F"/>
                </a:solidFill>
              </a:rPr>
              <a:t>Телефон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Открывается в браузере, ставить нечего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937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E2B14"/>
                </a:solidFill>
              </a:rPr>
              <a:t>Бабушке не нужен компьютер: выложила с телефона — и соседи увидели в тот же вечер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4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E2B14"/>
                </a:solidFill>
              </a:rPr>
              <a:t>Почему не чат и не Авито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E2B14"/>
                </a:solidFill>
              </a:rPr>
              <a:t>В сельском чате объявление тонет за час, и всё равно не знаешь, у кого клубника вкусная. На сайте у продавца остаются отзывы — сразу видно, к кому идти второй раз.</a:t>
            </a:r>
            <a:endParaRPr lang="en-US" sz="1500" dirty="0"/>
          </a:p>
        </p:txBody>
      </p:sp>
      <p:graphicFrame>
        <p:nvGraphicFramePr>
          <p:cNvPr id="5" name="сравнение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108813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468880"/>
                <a:gridCol w="2377440"/>
                <a:gridCol w="20116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продают сейчас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ждать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Видно, кто рядом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репутация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Рынок в райцентре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полдня стоять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Чат посёлка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тонет за час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Авито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дни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частично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7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«СвояЕда»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тот же вечер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да, на карте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да, отзывы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4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Что дальше</a:t>
            </a:r>
            <a:endParaRPr lang="en-US" sz="4000" dirty="0"/>
          </a:p>
        </p:txBody>
      </p:sp>
      <p:sp>
        <p:nvSpPr>
          <p:cNvPr id="3" name="план 1"/>
          <p:cNvSpPr/>
          <p:nvPr/>
        </p:nvSpPr>
        <p:spPr>
          <a:xfrm>
            <a:off x="640080" y="2103120"/>
            <a:ext cx="3413760" cy="1280160"/>
          </a:xfrm>
          <a:prstGeom prst="roundRect">
            <a:avLst>
              <a:gd name="adj" fmla="val 7143"/>
            </a:avLst>
          </a:prstGeom>
          <a:solidFill>
            <a:srgbClr val="5A3F1E"/>
          </a:solidFill>
          <a:ln/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Запуск в Урусу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8DDCB"/>
                </a:solidFill>
              </a:rPr>
              <a:t>десять продавцов, которых знают все</a:t>
            </a:r>
            <a:endParaRPr lang="en-US" sz="1600" dirty="0"/>
          </a:p>
        </p:txBody>
      </p:sp>
      <p:sp>
        <p:nvSpPr>
          <p:cNvPr id="4" name="план 2"/>
          <p:cNvSpPr/>
          <p:nvPr/>
        </p:nvSpPr>
        <p:spPr>
          <a:xfrm>
            <a:off x="4373880" y="2103120"/>
            <a:ext cx="3413760" cy="1280160"/>
          </a:xfrm>
          <a:prstGeom prst="roundRect">
            <a:avLst>
              <a:gd name="adj" fmla="val 7143"/>
            </a:avLst>
          </a:prstGeom>
          <a:solidFill>
            <a:srgbClr val="5A3F1E"/>
          </a:solidFill>
          <a:ln/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Соседние сёла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8DDCB"/>
                </a:solidFill>
              </a:rPr>
              <a:t>та же схема без переделок</a:t>
            </a:r>
            <a:endParaRPr lang="en-US" sz="1600" dirty="0"/>
          </a:p>
        </p:txBody>
      </p:sp>
      <p:sp>
        <p:nvSpPr>
          <p:cNvPr id="5" name="план 3"/>
          <p:cNvSpPr/>
          <p:nvPr/>
        </p:nvSpPr>
        <p:spPr>
          <a:xfrm>
            <a:off x="8107680" y="2103120"/>
            <a:ext cx="3413760" cy="1280160"/>
          </a:xfrm>
          <a:prstGeom prst="roundRect">
            <a:avLst>
              <a:gd name="adj" fmla="val 7143"/>
            </a:avLst>
          </a:prstGeom>
          <a:solidFill>
            <a:srgbClr val="5A3F1E"/>
          </a:solidFill>
          <a:ln/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Уведомления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8DDCB"/>
                </a:solidFill>
              </a:rPr>
              <a:t>«у соседа появилась клубника»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611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E8DDCB"/>
                </a:solidFill>
              </a:rPr>
              <a:t>В Татарстане 401 тысяча личных хозяйств — у каждого села та же задача, что у Урусу</a:t>
            </a:r>
            <a:endParaRPr lang="en-US" sz="1500" dirty="0"/>
          </a:p>
        </p:txBody>
      </p:sp>
      <p:sp>
        <p:nvSpPr>
          <p:cNvPr id="7" name="подпись"/>
          <p:cNvSpPr txBox="1"/>
          <p:nvPr/>
        </p:nvSpPr>
        <p:spPr>
          <a:xfrm>
            <a:off x="640080" y="4206240"/>
            <a:ext cx="9144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7D9E4F"/>
                </a:solidFill>
              </a:rPr>
              <a:t>svoya-eda.tatnet.app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BCAC92"/>
                </a:solidFill>
              </a:rPr>
              <a:t>Спасибо. Готов ответить на вопросы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rgbClr val="9A8B74"/>
                </a:solidFill>
              </a:rPr>
              <a:t>Фазуллин Амир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rgbClr val="9A8B74"/>
                </a:solidFill>
              </a:rPr>
              <a:t>Лицей-интернат имени Мустафы Онджеля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voyaEda">
  <a:themeElements>
    <a:clrScheme name="SvoyaEda">
      <a:dk1>
        <a:srgbClr val="23190E"/>
      </a:dk1>
      <a:lt1>
        <a:srgbClr val="FFFFFF"/>
      </a:lt1>
      <a:dk2>
        <a:srgbClr val="3E2B14"/>
      </a:dk2>
      <a:lt2>
        <a:srgbClr val="EDF1E9"/>
      </a:lt2>
      <a:accent1>
        <a:srgbClr val="B8761F"/>
      </a:accent1>
      <a:accent2>
        <a:srgbClr val="8C5A15"/>
      </a:accent2>
      <a:accent3>
        <a:srgbClr val="7A746B"/>
      </a:accent3>
      <a:accent4>
        <a:srgbClr val="7D9E4F"/>
      </a:accent4>
      <a:accent5>
        <a:srgbClr val="6E4610"/>
      </a:accent5>
      <a:accent6>
        <a:srgbClr val="E3DED5"/>
      </a:accent6>
      <a:hlink>
        <a:srgbClr val="B8761F"/>
      </a:hlink>
      <a:folHlink>
        <a:srgbClr val="7A746B"/>
      </a:folHlink>
    </a:clrScheme>
    <a:fontScheme name="SvoyaEd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СвояЕда — площадка для домашних продавцов</dc:title>
  <dc:subject>PptxGenJS Presentation</dc:subject>
  <dc:creator>Проект «СвояЕда»</dc:creator>
  <cp:lastModifiedBy>Проект «СвояЕда»</cp:lastModifiedBy>
  <cp:revision>1</cp:revision>
  <dcterms:created xsi:type="dcterms:W3CDTF">2026-10-28T07:54:49Z</dcterms:created>
  <dcterms:modified xsi:type="dcterms:W3CDTF">2026-10-28T07:54:49Z</dcterms:modified>
</cp:coreProperties>
</file>