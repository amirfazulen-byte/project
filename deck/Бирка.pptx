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Открытие" id="{835ad73c-0961-1a12-c676-c0864a973ecf}">
          <p14:sldIdLst>
            <p14:sldId id="256"/>
          </p14:sldIdLst>
        </p14:section>
        <p14:section name="Проблема" id="{691adae2-392a-3153-0fea-48b6477b8e83}">
          <p14:sldIdLst>
            <p14:sldId id="257"/>
          </p14:sldIdLst>
        </p14:section>
        <p14:section name="Исследование" id="{84d29de3-cefc-33e9-829e-d7555cc08816}">
          <p14:sldIdLst>
            <p14:sldId id="258"/>
          </p14:sldIdLst>
        </p14:section>
        <p14:section name="Решение" id="{529cab6b-21f5-edda-9e41-aad11283d082}">
          <p14:sldIdLst>
            <p14:sldId id="259"/>
            <p14:sldId id="260"/>
          </p14:sldIdLst>
        </p14:section>
        <p14:section name="Рынок" id="{9a07ed66-5b72-5061-346f-e06fb7bae855}">
          <p14:sldIdLst>
            <p14:sldId id="261"/>
          </p14:sldIdLst>
        </p14:section>
        <p14:section name="Итог" id="{1c092f27-5730-6c42-d218-d9ab055b31f6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Карточек из 30</c:v>
                </c:pt>
              </c:strCache>
            </c:strRef>
          </c:tx>
          <c:spPr>
            <a:solidFill>
              <a:srgbClr val="99001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300" u="none">
                    <a:solidFill>
                      <a:srgbClr val="1C1C20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Всё в порядке</c:v>
                  </c:pt>
                  <c:pt idx="1">
                    <c:v>Нет состава сырья</c:v>
                  </c:pt>
                  <c:pt idx="2">
                    <c:v>Нет юр. адреса</c:v>
                  </c:pt>
                  <c:pt idx="3">
                    <c:v>Нет номера партии</c:v>
                  </c:pt>
                  <c:pt idx="4">
                    <c:v>Нет фото этикетки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</c:v>
                </c:pt>
                <c:pt idx="1">
                  <c:v>6</c:v>
                </c:pt>
                <c:pt idx="2">
                  <c:v>9</c:v>
                </c:pt>
                <c:pt idx="3">
                  <c:v>14</c:v>
                </c:pt>
                <c:pt idx="4">
                  <c:v>11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300" u="none">
                  <a:solidFill>
                    <a:srgbClr val="1C1C20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C1C20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0"/>
        </c:scaling>
        <c:delete val="0"/>
        <c:axPos val="b"/>
        <c:majorGridlines>
          <c:spPr>
            <a:ln w="12700" cap="flat">
              <a:solidFill>
                <a:srgbClr val="D9DDE3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B72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Представиться: имя, лицей-интернат. Назвать проект одной фразой: сервис проверяет этикетку товара на соответствие техническому регламенту и сразу показывает, чем грозит нарушение.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Главное: штраф несопоставим с ценой товара, а конфискация партии обычно дороже самого штрафа. Источник — статья 14.43 КоАП, число продавцов — Data Insight, 2025.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ПОДСТАВИТЬ СВОИ ЦИФРЫ перед защитой: числа на графике и в карточке — из моего аудита 30 карточек, замените на собственные. Подчеркнуть: карточки брал подряд, без отбора, иначе результат нечестный.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Здесь переходим к живой демонстрации: попросить у жюри любой товар в упаковке и проверить его. Если сеть подведёт — показать заранее сохранённые скриншоты.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Сайт открыть ЗАРАНЕЕ и не закрывать вкладку. Держать под рукой скриншоты отчётов и текст этикетки в заметках телефона — на случай сбоя сети.
ОТВЕТЫ НА ВОПРОСЫ ПОСЛЕ ДЕМОНСТРАЦИИ (говорить, если спросят):
• Проверка предварительная, она не заменяет декларирование соответствия.
• Высоту шрифта по фотографии не измеряем — приложение задаёт вопрос пользователю.
• Точность: сверил 5 этикеток вручную, совпадение 94,5 процента. Хуже всего распознаётся дата, выбитая на упаковке, а не напечатанная. Поэтому есть ручной ввод текста.
• Выделение аллергенов полужирным — рекомендация для читаемости, а не требование регламента.
• Если фото нечитаемое, сервис честно говорит об этом и предлагает ввести текст вручную.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обязательный слайд: жюри оценивает сравнение с аналогами отдельным критерием. Главная мысль — ниша свободна именно по проверке текста, а не кодов.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Закончить на планах и поблагодарить. Держать в голове ответы на три вопроса: ответственность за ложное «всё хорошо», точность распознавания, почему продавец заплатит.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 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D9DDE3"/>
                </a:solidFill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 </a:t>
            </a: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_TINT">
    <p:bg>
      <p:bgPr>
        <a:solidFill>
          <a:schemeClr val="bg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 </a:t>
            </a:r>
            <a:endParaRPr lang="en-US" sz="3800" dirty="0"/>
          </a:p>
        </p:txBody>
      </p:sp>
      <p:sp>
        <p:nvSpPr>
          <p:cNvPr id="3" name="Text 0"/>
          <p:cNvSpPr txBox="1"/>
          <p:nvPr/>
        </p:nvSpPr>
        <p:spPr>
          <a:xfrm>
            <a:off x="640080" y="64008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</a:rPr>
              <a:t>Бирка · проверка этикетки по техрегламенту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F3C7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 </a:t>
            </a: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2286000"/>
            <a:ext cx="108813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bg1"/>
                </a:solidFill>
              </a:rPr>
              <a:t>Бирка</a:t>
            </a:r>
            <a:endParaRPr lang="en-US" sz="5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703320"/>
            <a:ext cx="7680960" cy="13716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1800" dirty="0">
                <a:solidFill>
                  <a:srgbClr val="D9DDE3"/>
                </a:solidFill>
              </a:rPr>
              <a:t>Проверка этикетки товара на соответствие техрегламенту — за минуту, по фотографии</a:t>
            </a:r>
            <a:endParaRPr lang="en-US" sz="1800" dirty="0"/>
          </a:p>
        </p:txBody>
      </p:sp>
      <p:sp>
        <p:nvSpPr>
          <p:cNvPr id="4" name="знак штрафа"/>
          <p:cNvSpPr/>
          <p:nvPr/>
        </p:nvSpPr>
        <p:spPr>
          <a:xfrm>
            <a:off x="8869680" y="2286000"/>
            <a:ext cx="2651760" cy="1828800"/>
          </a:xfrm>
          <a:prstGeom prst="roundRect">
            <a:avLst>
              <a:gd name="adj" fmla="val 5000"/>
            </a:avLst>
          </a:prstGeom>
          <a:solidFill>
            <a:srgbClr val="99001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006840" y="260604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до 1 млн ₽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900684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штраф за нарушение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F3C6C6"/>
                </a:solidFill>
              </a:rPr>
              <a:t>маркировки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2578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</a:rPr>
              <a:t>Фазуллин Амир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DE3"/>
                </a:solidFill>
              </a:rPr>
              <a:t>Лицей-интернат имени Мустафы Онджеля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6C9"/>
                </a:solidFill>
              </a:rPr>
              <a:t>Школьный конкурс по технологическому предпринимательству · ИТ-парк Татарстана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Ошибка на этикетке дороже товара</a:t>
            </a:r>
            <a:endParaRPr lang="en-US" sz="3800" dirty="0"/>
          </a:p>
        </p:txBody>
      </p:sp>
      <p:sp>
        <p:nvSpPr>
          <p:cNvPr id="3" name="штраф ч.1"/>
          <p:cNvSpPr/>
          <p:nvPr/>
        </p:nvSpPr>
        <p:spPr>
          <a:xfrm>
            <a:off x="64008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84124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100–300 тыс. ₽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штраф юрлицу за нарушение маркировки, ч. 1 ст. 14.43 КоАП</a:t>
            </a:r>
            <a:endParaRPr lang="en-US" sz="1300" dirty="0"/>
          </a:p>
        </p:txBody>
      </p:sp>
      <p:sp>
        <p:nvSpPr>
          <p:cNvPr id="6" name="штраф ч.3"/>
          <p:cNvSpPr/>
          <p:nvPr/>
        </p:nvSpPr>
        <p:spPr>
          <a:xfrm>
            <a:off x="438912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459028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990011"/>
                </a:solidFill>
              </a:rPr>
              <a:t>до 1 млн ₽</a:t>
            </a:r>
            <a:endParaRPr lang="en-US" sz="2600" dirty="0"/>
          </a:p>
        </p:txBody>
      </p:sp>
      <p:sp>
        <p:nvSpPr>
          <p:cNvPr id="8" name="Text 6"/>
          <p:cNvSpPr txBox="1"/>
          <p:nvPr/>
        </p:nvSpPr>
        <p:spPr>
          <a:xfrm>
            <a:off x="459028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по ч. 3 той же статьи, плюс конфискация всей партии</a:t>
            </a:r>
            <a:endParaRPr lang="en-US" sz="1300" dirty="0"/>
          </a:p>
        </p:txBody>
      </p:sp>
      <p:sp>
        <p:nvSpPr>
          <p:cNvPr id="9" name="цена вручную"/>
          <p:cNvSpPr/>
          <p:nvPr/>
        </p:nvSpPr>
        <p:spPr>
          <a:xfrm>
            <a:off x="8138160" y="1600200"/>
            <a:ext cx="3383280" cy="1828800"/>
          </a:xfrm>
          <a:prstGeom prst="roundRect">
            <a:avLst>
              <a:gd name="adj" fmla="val 4000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8339328" y="1746504"/>
            <a:ext cx="298094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3C7E"/>
                </a:solidFill>
              </a:rPr>
              <a:t>16 100 ₽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39328" y="2468880"/>
            <a:ext cx="298094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от 3 дней — ручная разработка этикетки в сертификационном центре</a:t>
            </a:r>
            <a:endParaRPr lang="en-US" sz="1300" dirty="0"/>
          </a:p>
        </p:txBody>
      </p:sp>
      <p:sp>
        <p:nvSpPr>
          <p:cNvPr id="12" name="кто страдает"/>
          <p:cNvSpPr/>
          <p:nvPr/>
        </p:nvSpPr>
        <p:spPr>
          <a:xfrm>
            <a:off x="640080" y="3703320"/>
            <a:ext cx="1088136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60120" y="3886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Кого это касается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960120" y="429768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1,26 млн активных продавцов на Ozon и Wildberries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Малые производства, пекарни, фермерские бренды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Типографии и дизайн-студии, которые делают макеты этикеток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Я проверил 30 карточек сам</a:t>
            </a:r>
            <a:endParaRPr lang="en-US" sz="3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2588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B7280"/>
                </a:solidFill>
              </a:rPr>
              <a:t>Статистики по нарушениям текста этикеток в открытом доступе нет: Роспотребнадзор публикует данные только по кодам маркировки. Эту цифру я получил сам.</a:t>
            </a:r>
            <a:endParaRPr lang="en-US" sz="1500" dirty="0"/>
          </a:p>
        </p:txBody>
      </p:sp>
      <p:graphicFrame>
        <p:nvGraphicFramePr>
          <p:cNvPr id="4" name="результаты аудита" descr=""/>
          <p:cNvGraphicFramePr/>
          <p:nvPr/>
        </p:nvGraphicFramePr>
        <p:xfrm>
          <a:off x="640080" y="2011680"/>
          <a:ext cx="658368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итог аудита"/>
          <p:cNvSpPr/>
          <p:nvPr/>
        </p:nvSpPr>
        <p:spPr>
          <a:xfrm>
            <a:off x="7589520" y="2011680"/>
            <a:ext cx="3931920" cy="1508760"/>
          </a:xfrm>
          <a:prstGeom prst="roundRect">
            <a:avLst>
              <a:gd name="adj" fmla="val 4848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  <a:effectLst>
            <a:outerShdw sx="100000" sy="100000" kx="0" ky="0" algn="bl" rotWithShape="0" blurRad="101600" dist="25400" dir="5400000">
              <a:srgbClr val="1C1C20">
                <a:alpha val="8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7790688" y="2157984"/>
            <a:ext cx="3529584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90011"/>
                </a:solidFill>
              </a:rPr>
              <a:t>4 из 30</a:t>
            </a:r>
            <a:endParaRPr lang="en-US" sz="3200" dirty="0"/>
          </a:p>
        </p:txBody>
      </p:sp>
      <p:sp>
        <p:nvSpPr>
          <p:cNvPr id="7" name="Text 4"/>
          <p:cNvSpPr txBox="1"/>
          <p:nvPr/>
        </p:nvSpPr>
        <p:spPr>
          <a:xfrm>
            <a:off x="7790688" y="2880360"/>
            <a:ext cx="352958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карточек содержат все обязательные сведения</a:t>
            </a:r>
            <a:endParaRPr lang="en-US" sz="1300" dirty="0"/>
          </a:p>
        </p:txBody>
      </p:sp>
      <p:sp>
        <p:nvSpPr>
          <p:cNvPr id="8" name="как считал"/>
          <p:cNvSpPr/>
          <p:nvPr/>
        </p:nvSpPr>
        <p:spPr>
          <a:xfrm>
            <a:off x="7589520" y="3703320"/>
            <a:ext cx="3931920" cy="160020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7818120" y="388620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Как считал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7818120" y="4206240"/>
            <a:ext cx="3474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Брал карточки подряд из выдачи, без отбора. Проверял своим сервисом, затем 5 этикеток сверил вручную.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Как работает «Бирка»</a:t>
            </a:r>
            <a:endParaRPr lang="en-US" sz="3800" dirty="0"/>
          </a:p>
        </p:txBody>
      </p:sp>
      <p:sp>
        <p:nvSpPr>
          <p:cNvPr id="3" name="Shape 1"/>
          <p:cNvSpPr/>
          <p:nvPr/>
        </p:nvSpPr>
        <p:spPr>
          <a:xfrm>
            <a:off x="640080" y="1600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40080" y="1600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581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Сфотографировать этикетку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874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или вставить текст, если фото нечитаемое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0604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" y="26060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258775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Сервис сверяет текст с регламентом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8803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ТР ТС 022/2011 — продукты, 017/2011 — одежда, закон о защите прав потребителей — остальное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40080" y="3886200"/>
            <a:ext cx="475488" cy="475488"/>
          </a:xfrm>
          <a:prstGeom prst="ellipse">
            <a:avLst/>
          </a:prstGeom>
          <a:solidFill>
            <a:srgbClr val="2F3C7E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40080" y="38862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3867912"/>
            <a:ext cx="5166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Отчёт с номерами пунктов и суммой риска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416052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</a:rPr>
              <a:t>и готовый исправленный текст этикетки</a:t>
            </a:r>
            <a:endParaRPr lang="en-US" sz="1300" dirty="0"/>
          </a:p>
        </p:txBody>
      </p:sp>
      <p:sp>
        <p:nvSpPr>
          <p:cNvPr id="15" name="пример отчёта"/>
          <p:cNvSpPr/>
          <p:nvPr/>
        </p:nvSpPr>
        <p:spPr>
          <a:xfrm>
            <a:off x="7040880" y="1600200"/>
            <a:ext cx="4480560" cy="3703320"/>
          </a:xfrm>
          <a:prstGeom prst="roundRect">
            <a:avLst>
              <a:gd name="adj" fmla="val 2469"/>
            </a:avLst>
          </a:prstGeom>
          <a:solidFill>
            <a:schemeClr val="bg2"/>
          </a:solidFill>
          <a:ln w="12700">
            <a:solidFill>
              <a:srgbClr val="D9DD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315200" y="178308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B7280"/>
                </a:solidFill>
              </a:rPr>
              <a:t>Пример отчёта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0" y="2148840"/>
            <a:ext cx="3931920" cy="1051560"/>
          </a:xfrm>
          <a:prstGeom prst="roundRect">
            <a:avLst>
              <a:gd name="adj" fmla="val 6957"/>
            </a:avLst>
          </a:prstGeom>
          <a:solidFill>
            <a:srgbClr val="FDE7E7"/>
          </a:solidFill>
          <a:ln w="12700">
            <a:solidFill>
              <a:srgbClr val="99001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498080" y="2240280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990011"/>
                </a:solidFill>
              </a:rPr>
              <a:t>82%
</a:t>
            </a:r>
            <a:pPr indent="0" marL="0">
              <a:buNone/>
            </a:pPr>
            <a:r>
              <a:rPr lang="en-US" sz="1200" dirty="0">
                <a:solidFill>
                  <a:srgbClr val="7A2A2A"/>
                </a:solidFill>
              </a:rPr>
              <a:t>Соответствие · 9 из 11 сведений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37560"/>
            <a:ext cx="39319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показателей пищевой ценности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b="1" dirty="0">
                <a:solidFill>
                  <a:schemeClr val="tx1"/>
                </a:solidFill>
              </a:rPr>
              <a:t>Нет сведений о ГМО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6B7280"/>
                </a:solidFill>
              </a:rPr>
              <a:t>п. 4.1 ТР ТС 022/2011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7315200" y="46177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0011"/>
                </a:solidFill>
              </a:rPr>
              <a:t>Ориентировочный риск: 100–300 тыс. ₽ (ч. 1 ст. 14.43 КоАП)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Проверим прямо сейчас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011680"/>
            <a:ext cx="7680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D9DDE3"/>
                </a:solidFill>
              </a:rPr>
              <a:t>Дайте любой товар в упаковке — через минуту вы увидите, чего не хватает на его этикетке</a:t>
            </a:r>
            <a:endParaRPr lang="en-US" sz="2000" dirty="0"/>
          </a:p>
        </p:txBody>
      </p:sp>
      <p:sp>
        <p:nvSpPr>
          <p:cNvPr id="4" name="адрес сайта"/>
          <p:cNvSpPr/>
          <p:nvPr/>
        </p:nvSpPr>
        <p:spPr>
          <a:xfrm>
            <a:off x="640080" y="3108960"/>
            <a:ext cx="5120640" cy="914400"/>
          </a:xfrm>
          <a:prstGeom prst="roundRect">
            <a:avLst>
              <a:gd name="adj" fmla="val 12000"/>
            </a:avLst>
          </a:prstGeom>
          <a:solidFill>
            <a:srgbClr val="1F7A4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40080" y="3108960"/>
            <a:ext cx="5120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birka.tatnet.app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2062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EB6C9"/>
                </a:solidFill>
              </a:rPr>
              <a:t>Работает в браузере телефона. Ничего не нужно устанавливать.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411480"/>
            <a:ext cx="10881360" cy="8229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3800" b="1" dirty="0">
                <a:solidFill>
                  <a:schemeClr val="tx2"/>
                </a:solidFill>
              </a:rPr>
              <a:t>Текст этикетки не проверяет никто</a:t>
            </a:r>
            <a:endParaRPr lang="en-US" sz="3800" dirty="0"/>
          </a:p>
        </p:txBody>
      </p:sp>
      <p:graphicFrame>
        <p:nvGraphicFramePr>
          <p:cNvPr id="7" name="сравнение с аналогами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554480"/>
          <a:ext cx="1088136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572000"/>
                <a:gridCol w="1371600"/>
                <a:gridCol w="19202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Сервис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Что проверяет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Цена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Сертификационный центр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Текст, даёт официальное заключение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3 дней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от 16 100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«Честный знак», ГИС МТ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Только коды маркировки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МойСклад, SelSup, GetMark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Печать и оформление этикеток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в подписке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«Аудит карточек» Точки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Качество карточки для продаж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сразу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бесплатно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Nord Clan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Машинное зрение на производственной линии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корпоративно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99001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«Бирка»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Текст этикетки против регламента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минута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C1C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490 ₽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DD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Все существующие сервисы работают с кодами маркировки и печатью. Соответствие текста этикетки регламенту проверяют вручную консультанты.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B728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Что дальше</a:t>
            </a:r>
            <a:endParaRPr lang="en-US" sz="4000" dirty="0"/>
          </a:p>
        </p:txBody>
      </p:sp>
      <p:sp>
        <p:nvSpPr>
          <p:cNvPr id="3" name="план 1"/>
          <p:cNvSpPr/>
          <p:nvPr/>
        </p:nvSpPr>
        <p:spPr>
          <a:xfrm>
            <a:off x="640080" y="2148840"/>
            <a:ext cx="3413760" cy="1463040"/>
          </a:xfrm>
          <a:prstGeom prst="roundRect">
            <a:avLst>
              <a:gd name="adj" fmla="val 6250"/>
            </a:avLst>
          </a:prstGeom>
          <a:solidFill>
            <a:srgbClr val="3E4C94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68680" y="233172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Детские товары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761488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добавить проверку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по ТР ТС 007/2011</a:t>
            </a:r>
            <a:endParaRPr lang="en-US" sz="1300" dirty="0"/>
          </a:p>
        </p:txBody>
      </p:sp>
      <p:sp>
        <p:nvSpPr>
          <p:cNvPr id="6" name="план 2"/>
          <p:cNvSpPr/>
          <p:nvPr/>
        </p:nvSpPr>
        <p:spPr>
          <a:xfrm>
            <a:off x="4373880" y="2148840"/>
            <a:ext cx="3413760" cy="1463040"/>
          </a:xfrm>
          <a:prstGeom prst="roundRect">
            <a:avLst>
              <a:gd name="adj" fmla="val 6250"/>
            </a:avLst>
          </a:prstGeom>
          <a:solidFill>
            <a:srgbClr val="3E4C9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602480" y="233172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Проверка по ссылке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602480" y="2761488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разбор карточки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маркетплейса целиком</a:t>
            </a:r>
            <a:endParaRPr lang="en-US" sz="1300" dirty="0"/>
          </a:p>
        </p:txBody>
      </p:sp>
      <p:sp>
        <p:nvSpPr>
          <p:cNvPr id="9" name="план 3"/>
          <p:cNvSpPr/>
          <p:nvPr/>
        </p:nvSpPr>
        <p:spPr>
          <a:xfrm>
            <a:off x="8107680" y="2148840"/>
            <a:ext cx="3413760" cy="1463040"/>
          </a:xfrm>
          <a:prstGeom prst="roundRect">
            <a:avLst>
              <a:gd name="adj" fmla="val 6250"/>
            </a:avLst>
          </a:prstGeom>
          <a:solidFill>
            <a:srgbClr val="3E4C94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336280" y="2331720"/>
            <a:ext cx="2956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Пилот с типографией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8336280" y="2761488"/>
            <a:ext cx="2956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первые клиенты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C6CDE4"/>
                </a:solidFill>
              </a:rPr>
              <a:t>в Казани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88620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rgbClr val="D9DDE3"/>
                </a:solidFill>
              </a:rPr>
              <a:t>С марта 2027 года проверка карточек на маркетплейсах становится обязательной — предварительная самопроверка нужна продавцу уже сейчас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48463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7A4D"/>
                </a:solidFill>
              </a:rPr>
              <a:t>birka.tatnet.app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5349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AEB6C9"/>
                </a:solidFill>
              </a:rPr>
              <a:t>Спасибо. Готов ответить на вопросы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" y="58064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8E97B5"/>
                </a:solidFill>
              </a:rPr>
              <a:t>Фазуллин Амир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8E97B5"/>
                </a:solidFill>
              </a:rPr>
              <a:t>Лицей-интернат имени Мустафы Онджеля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irka">
  <a:themeElements>
    <a:clrScheme name="Birka">
      <a:dk1>
        <a:srgbClr val="1C1C20"/>
      </a:dk1>
      <a:lt1>
        <a:srgbClr val="FFFFFF"/>
      </a:lt1>
      <a:dk2>
        <a:srgbClr val="2F3C7E"/>
      </a:dk2>
      <a:lt2>
        <a:srgbClr val="FCF6F5"/>
      </a:lt2>
      <a:accent1>
        <a:srgbClr val="990011"/>
      </a:accent1>
      <a:accent2>
        <a:srgbClr val="2F3C7E"/>
      </a:accent2>
      <a:accent3>
        <a:srgbClr val="6B7280"/>
      </a:accent3>
      <a:accent4>
        <a:srgbClr val="1F7A4D"/>
      </a:accent4>
      <a:accent5>
        <a:srgbClr val="B88A00"/>
      </a:accent5>
      <a:accent6>
        <a:srgbClr val="D9DDE3"/>
      </a:accent6>
      <a:hlink>
        <a:srgbClr val="2F3C7E"/>
      </a:hlink>
      <a:folHlink>
        <a:srgbClr val="6B7280"/>
      </a:folHlink>
    </a:clrScheme>
    <a:fontScheme name="Birka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Бирка — проверка этикетки по техрегламенту</dc:title>
  <dc:subject>PptxGenJS Presentation</dc:subject>
  <dc:creator>Проект «Бирка»</dc:creator>
  <cp:lastModifiedBy>Проект «Бирка»</cp:lastModifiedBy>
  <cp:revision>1</cp:revision>
  <dcterms:created xsi:type="dcterms:W3CDTF">2026-10-28T06:08:23Z</dcterms:created>
  <dcterms:modified xsi:type="dcterms:W3CDTF">2026-10-28T06:08:23Z</dcterms:modified>
</cp:coreProperties>
</file>