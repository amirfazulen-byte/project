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1b52418a-1438-26dc-5ade-0dcbaef9f0b9}">
          <p14:sldIdLst>
            <p14:sldId id="256"/>
          </p14:sldIdLst>
        </p14:section>
        <p14:section name="Проблема" id="{290246f5-7e71-86d7-8359-a15fdb9931fd}">
          <p14:sldIdLst>
            <p14:sldId id="257"/>
          </p14:sldIdLst>
        </p14:section>
        <p14:section name="Исследование" id="{3b9f7e3b-458f-72e5-5907-c19ac3b41cd7}">
          <p14:sldIdLst>
            <p14:sldId id="258"/>
          </p14:sldIdLst>
        </p14:section>
        <p14:section name="Решение" id="{54ea38e1-051b-a12d-bf6e-a142b33c0d9b}">
          <p14:sldIdLst>
            <p14:sldId id="259"/>
            <p14:sldId id="260"/>
          </p14:sldIdLst>
        </p14:section>
        <p14:section name="Рынок" id="{6c27ec51-958e-dd64-0292-26beaaf97c57}">
          <p14:sldIdLst>
            <p14:sldId id="261"/>
          </p14:sldIdLst>
        </p14:section>
        <p14:section name="Итог" id="{530a84ef-86f8-da32-2f9c-310fa6ec3bc1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Карточек из 30</c:v>
                </c:pt>
              </c:strCache>
            </c:strRef>
          </c:tx>
          <c:spPr>
            <a:solidFill>
              <a:srgbClr val="9900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C1C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Всё в порядке</c:v>
                  </c:pt>
                  <c:pt idx="1">
                    <c:v>Нет состава сырья</c:v>
                  </c:pt>
                  <c:pt idx="2">
                    <c:v>Нет юр. адреса</c:v>
                  </c:pt>
                  <c:pt idx="3">
                    <c:v>Нет номера партии</c:v>
                  </c:pt>
                  <c:pt idx="4">
                    <c:v>Нет фото этикетки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6</c:v>
                </c:pt>
                <c:pt idx="2">
                  <c:v>9</c:v>
                </c:pt>
                <c:pt idx="3">
                  <c:v>14</c:v>
                </c:pt>
                <c:pt idx="4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C1C2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1C2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0"/>
        <c:axPos val="b"/>
        <c:majorGridlines>
          <c:spPr>
            <a:ln w="12700" cap="flat">
              <a:solidFill>
                <a:srgbClr val="D9DD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Представиться: имя, лицей-интернат. Назвать проект одной фразой: сервис проверяет этикетку товара на соответствие техническому регламенту и сразу показывает, чем грозит нарушение.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Главное: штраф несопоставим с ценой товара, а конфискация партии обычно дороже самого штрафа. Источник — статья 14.43 КоАП, число продавцов — Data Insight,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ПОДСТАВИТЬ СВОИ ЦИФРЫ перед защитой: числа на графике и в карточке — из моего аудита 30 карточек, замените на собственные. Подчеркнуть: карточки брал подряд, без отбора, иначе результат нечестный.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переходим к живой демонстрации: попросить у жюри любой товар в упаковке и проверить его. Если сеть подведёт — показать заранее сохранённые скриншоты.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Сайт открыть ЗАРАНЕЕ и не закрывать вкладку. Держать под рукой скриншоты отчётов и текст этикетки в заметках телефона — на случай сбоя сети.
ОТВЕТЫ НА ВОПРОСЫ ПОСЛЕ ДЕМОНСТРАЦИИ (говорить, если спросят):
• Проверка предварительная, она не заменяет декларирование соответствия.
• Высоту шрифта по фотографии не измеряем — приложение задаёт вопрос пользователю.
• Точность: сверил 5 этикеток вручную, совпадение 94,5 процента. Хуже всего распознаётся дата, выбитая на упаковке, а не напечатанная. Поэтому есть ручной ввод текста.
• Выделение аллергенов полужирным — рекомендация для читаемости, а не требование регламента.
• Если фото нечитаемое, сервис честно говорит об этом и предлагает ввести текст вручную.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обязательный слайд: жюри оценивает сравнение с аналогами отдельным критерием. Главная мысль — ниша свободна именно по проверке текста, а не кодов.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Закончить на планах и поблагодарить. Держать в голове ответы на три вопроса: ответственность за ложное «всё хорошо», точность распознавания, почему продавец заплатит.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 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0332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9DDE3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D9DDE3"/>
                </a:solidFill>
              </a:rPr>
              <a:t> 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 </a:t>
            </a:r>
            <a:endParaRPr lang="en-US" sz="38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Бирка · проверка этикетки по техрегламенту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T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 </a:t>
            </a:r>
            <a:endParaRPr lang="en-US" sz="38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Бирка · проверка этикетки по техрегламенту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 </a:t>
            </a: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Бирка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0332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D9DDE3"/>
                </a:solidFill>
              </a:rPr>
              <a:t>Проверка этикетки товара на соответствие техрегламенту — за минуту, по фотографии</a:t>
            </a:r>
            <a:endParaRPr lang="en-US" sz="1800" dirty="0"/>
          </a:p>
        </p:txBody>
      </p:sp>
      <p:sp>
        <p:nvSpPr>
          <p:cNvPr id="4" name="знак штрафа"/>
          <p:cNvSpPr/>
          <p:nvPr/>
        </p:nvSpPr>
        <p:spPr>
          <a:xfrm>
            <a:off x="8869680" y="22860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99001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006840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до 1 млн ₽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900684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3C6C6"/>
                </a:solidFill>
              </a:rPr>
              <a:t>штраф за нарушение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3C6C6"/>
                </a:solidFill>
              </a:rPr>
              <a:t>маркировки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257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Фазуллин Амир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6235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DE3"/>
                </a:solidFill>
              </a:rPr>
              <a:t>Лицей-интернат имени Мустафы Онджеля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C9"/>
                </a:solidFill>
              </a:rPr>
              <a:t>Школьный конкурс по технологическому предпринимательству · ИТ-парк Татарстана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Ошибка на этикетке дороже товара</a:t>
            </a:r>
            <a:endParaRPr lang="en-US" sz="3800" dirty="0"/>
          </a:p>
        </p:txBody>
      </p:sp>
      <p:sp>
        <p:nvSpPr>
          <p:cNvPr id="3" name="штраф ч.1"/>
          <p:cNvSpPr/>
          <p:nvPr/>
        </p:nvSpPr>
        <p:spPr>
          <a:xfrm>
            <a:off x="64008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41248" y="174650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90011"/>
                </a:solidFill>
              </a:rPr>
              <a:t>100–300 тыс. ₽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4688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штраф юрлицу за нарушение маркировки, ч. 1 ст. 14.43 КоАП</a:t>
            </a:r>
            <a:endParaRPr lang="en-US" sz="1300" dirty="0"/>
          </a:p>
        </p:txBody>
      </p:sp>
      <p:sp>
        <p:nvSpPr>
          <p:cNvPr id="6" name="штраф ч.3"/>
          <p:cNvSpPr/>
          <p:nvPr/>
        </p:nvSpPr>
        <p:spPr>
          <a:xfrm>
            <a:off x="438912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90288" y="174650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90011"/>
                </a:solidFill>
              </a:rPr>
              <a:t>до 1 млн ₽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90288" y="24688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по ч. 3 той же статьи, плюс конфискация всей партии</a:t>
            </a:r>
            <a:endParaRPr lang="en-US" sz="1300" dirty="0"/>
          </a:p>
        </p:txBody>
      </p:sp>
      <p:sp>
        <p:nvSpPr>
          <p:cNvPr id="9" name="цена вручную"/>
          <p:cNvSpPr/>
          <p:nvPr/>
        </p:nvSpPr>
        <p:spPr>
          <a:xfrm>
            <a:off x="813816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39328" y="174650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3C7E"/>
                </a:solidFill>
              </a:rPr>
              <a:t>16 100 ₽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39328" y="24688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и от 3 дней — ручная разработка этикетки в сертификационном центре</a:t>
            </a:r>
            <a:endParaRPr lang="en-US" sz="1300" dirty="0"/>
          </a:p>
        </p:txBody>
      </p:sp>
      <p:sp>
        <p:nvSpPr>
          <p:cNvPr id="12" name="кто страдает"/>
          <p:cNvSpPr/>
          <p:nvPr/>
        </p:nvSpPr>
        <p:spPr>
          <a:xfrm>
            <a:off x="640080" y="3703320"/>
            <a:ext cx="1088136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886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Кого это касается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29768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1,26 млн активных продавцов на Ozon и Wildberries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Малые производства, пекарни, фермерские бренды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Типографии и дизайн-студии, которые делают макеты этикеток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Я проверил 30 карточек сам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</a:rPr>
              <a:t>Статистики по нарушениям текста этикеток в открытом доступе нет: Роспотребнадзор публикует данные только по кодам маркировки. Эту цифру я получил сам.</a:t>
            </a:r>
            <a:endParaRPr lang="en-US" sz="1500" dirty="0"/>
          </a:p>
        </p:txBody>
      </p:sp>
      <p:graphicFrame>
        <p:nvGraphicFramePr>
          <p:cNvPr id="4" name="результаты аудита" descr=""/>
          <p:cNvGraphicFramePr/>
          <p:nvPr/>
        </p:nvGraphicFramePr>
        <p:xfrm>
          <a:off x="640080" y="2011680"/>
          <a:ext cx="65836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итог аудита"/>
          <p:cNvSpPr/>
          <p:nvPr/>
        </p:nvSpPr>
        <p:spPr>
          <a:xfrm>
            <a:off x="7589520" y="2011680"/>
            <a:ext cx="393192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90688" y="2157984"/>
            <a:ext cx="3529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90011"/>
                </a:solidFill>
              </a:rPr>
              <a:t>4 из 30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790688" y="2880360"/>
            <a:ext cx="3529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карточек содержат все обязательные сведения</a:t>
            </a:r>
            <a:endParaRPr lang="en-US" sz="1300" dirty="0"/>
          </a:p>
        </p:txBody>
      </p:sp>
      <p:sp>
        <p:nvSpPr>
          <p:cNvPr id="8" name="как считал"/>
          <p:cNvSpPr/>
          <p:nvPr/>
        </p:nvSpPr>
        <p:spPr>
          <a:xfrm>
            <a:off x="7589520" y="3703320"/>
            <a:ext cx="393192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18120" y="3886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Как считал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2062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Брал карточки подряд из выдачи, без отбора. Проверял своим сервисом, затем 5 этикеток сверил вручную.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Как работает «Бирка»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475488" cy="475488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58191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Сфотографировать этикетку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7452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или вставить текст, если фото нечитаемое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606040"/>
            <a:ext cx="475488" cy="475488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606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58775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Сервис сверяет текст с регламентом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88036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ТР ТС 022/2011 — продукты, 017/2011 — одежда, закон о защите прав потребителей — остальное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886200"/>
            <a:ext cx="475488" cy="475488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886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86791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Отчёт с номерами пунктов и суммой риска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16052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и готовый исправленный текст этикетки</a:t>
            </a:r>
            <a:endParaRPr lang="en-US" sz="1300" dirty="0"/>
          </a:p>
        </p:txBody>
      </p:sp>
      <p:sp>
        <p:nvSpPr>
          <p:cNvPr id="15" name="пример отчёта"/>
          <p:cNvSpPr/>
          <p:nvPr/>
        </p:nvSpPr>
        <p:spPr>
          <a:xfrm>
            <a:off x="7040880" y="1600200"/>
            <a:ext cx="4480560" cy="3703320"/>
          </a:xfrm>
          <a:prstGeom prst="roundRect">
            <a:avLst>
              <a:gd name="adj" fmla="val 2469"/>
            </a:avLst>
          </a:prstGeom>
          <a:solidFill>
            <a:schemeClr val="bg2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1783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</a:rPr>
              <a:t>Пример отчёта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0" y="214884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FDE7E7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98080" y="22402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90011"/>
                </a:solidFill>
              </a:rPr>
              <a:t>82%
</a:t>
            </a:r>
            <a:pPr indent="0" marL="0">
              <a:buNone/>
            </a:pPr>
            <a:r>
              <a:rPr lang="en-US" sz="1200" dirty="0">
                <a:solidFill>
                  <a:srgbClr val="7A2A2A"/>
                </a:solidFill>
              </a:rPr>
              <a:t>Соответствие · 9 из 11 сведений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33756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Нет показателей пищевой ценности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п. 4.1 ТР ТС 022/2011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Нет сведений о ГМО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п. 4.1 ТР ТС 022/2011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46177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0011"/>
                </a:solidFill>
              </a:rPr>
              <a:t>Ориентировочный риск: 100–300 тыс. ₽ (ч. 1 ст. 14.43 КоАП)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Проверим прямо сейчас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DDE3"/>
                </a:solidFill>
              </a:rPr>
              <a:t>Дайте любой товар в упаковке — через минуту вы увидите, чего не хватает на его этикетке</a:t>
            </a:r>
            <a:endParaRPr lang="en-US" sz="2000" dirty="0"/>
          </a:p>
        </p:txBody>
      </p:sp>
      <p:sp>
        <p:nvSpPr>
          <p:cNvPr id="4" name="адрес сайта"/>
          <p:cNvSpPr/>
          <p:nvPr/>
        </p:nvSpPr>
        <p:spPr>
          <a:xfrm>
            <a:off x="640080" y="342900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1F7A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birka.tatnet.app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720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6C9"/>
                </a:solidFill>
              </a:rPr>
              <a:t>Работает в браузере телефона. Ничего не нужно устанавливать.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Текст этикетки не проверяет никто</a:t>
            </a:r>
            <a:endParaRPr lang="en-US" sz="3800" dirty="0"/>
          </a:p>
        </p:txBody>
      </p:sp>
      <p:graphicFrame>
        <p:nvGraphicFramePr>
          <p:cNvPr id="7" name="сравнение с аналогами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572000"/>
                <a:gridCol w="137160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проверяет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Сертификационный центр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Текст, даёт официальное заключение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3 дней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16 100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«Честный знак», ГИС МТ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коды маркировки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сразу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МойСклад, SelSup, GetMark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Печать и оформление этикеток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сразу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«Аудит карточек» Точки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Качество карточки для продаж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сразу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Nord Clan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Машинное зрение на производственной линии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корпоративно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«Бирка»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 этикетки против регламента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Все существующие сервисы работают с кодами маркировки и печатью. Соответствие текста этикетки регламенту проверяют вручную консультанты.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Что дальше</a:t>
            </a:r>
            <a:endParaRPr lang="en-US" sz="4000" dirty="0"/>
          </a:p>
        </p:txBody>
      </p:sp>
      <p:sp>
        <p:nvSpPr>
          <p:cNvPr id="3" name="план 1"/>
          <p:cNvSpPr/>
          <p:nvPr/>
        </p:nvSpPr>
        <p:spPr>
          <a:xfrm>
            <a:off x="640080" y="2148840"/>
            <a:ext cx="3413760" cy="1463040"/>
          </a:xfrm>
          <a:prstGeom prst="roundRect">
            <a:avLst>
              <a:gd name="adj" fmla="val 6250"/>
            </a:avLst>
          </a:prstGeom>
          <a:solidFill>
            <a:srgbClr val="3E4C9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2331720"/>
            <a:ext cx="295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Детские товары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761488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добавить проверку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по ТР ТС 007/2011</a:t>
            </a:r>
            <a:endParaRPr lang="en-US" sz="1300" dirty="0"/>
          </a:p>
        </p:txBody>
      </p:sp>
      <p:sp>
        <p:nvSpPr>
          <p:cNvPr id="6" name="план 2"/>
          <p:cNvSpPr/>
          <p:nvPr/>
        </p:nvSpPr>
        <p:spPr>
          <a:xfrm>
            <a:off x="4373880" y="2148840"/>
            <a:ext cx="3413760" cy="1463040"/>
          </a:xfrm>
          <a:prstGeom prst="roundRect">
            <a:avLst>
              <a:gd name="adj" fmla="val 6250"/>
            </a:avLst>
          </a:prstGeom>
          <a:solidFill>
            <a:srgbClr val="3E4C9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02480" y="2331720"/>
            <a:ext cx="295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Проверка по ссылке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602480" y="2761488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разбор карточки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маркетплейса целиком</a:t>
            </a:r>
            <a:endParaRPr lang="en-US" sz="1300" dirty="0"/>
          </a:p>
        </p:txBody>
      </p:sp>
      <p:sp>
        <p:nvSpPr>
          <p:cNvPr id="9" name="план 3"/>
          <p:cNvSpPr/>
          <p:nvPr/>
        </p:nvSpPr>
        <p:spPr>
          <a:xfrm>
            <a:off x="8107680" y="2148840"/>
            <a:ext cx="3413760" cy="1463040"/>
          </a:xfrm>
          <a:prstGeom prst="roundRect">
            <a:avLst>
              <a:gd name="adj" fmla="val 6250"/>
            </a:avLst>
          </a:prstGeom>
          <a:solidFill>
            <a:srgbClr val="3E4C9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36280" y="2331720"/>
            <a:ext cx="295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Пилот с типографией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336280" y="2761488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первые клиенты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в Казани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886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9DDE3"/>
                </a:solidFill>
              </a:rPr>
              <a:t>С марта 2027 года проверка карточек на маркетплейсах становится обязательной — предварительная самопроверка нужна продавцу уже сейчас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8463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4D"/>
                </a:solidFill>
              </a:rPr>
              <a:t>birka.tatnet.app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349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9"/>
                </a:solidFill>
              </a:rPr>
              <a:t>Спасибо. Готов ответить на вопросы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806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97B5"/>
                </a:solidFill>
              </a:rPr>
              <a:t>Фазуллин Амир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E97B5"/>
                </a:solidFill>
              </a:rPr>
              <a:t>Лицей-интернат имени Мустафы Онджеля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rka">
  <a:themeElements>
    <a:clrScheme name="Birka">
      <a:dk1>
        <a:srgbClr val="1C1C20"/>
      </a:dk1>
      <a:lt1>
        <a:srgbClr val="FFFFFF"/>
      </a:lt1>
      <a:dk2>
        <a:srgbClr val="2F3C7E"/>
      </a:dk2>
      <a:lt2>
        <a:srgbClr val="FCF6F5"/>
      </a:lt2>
      <a:accent1>
        <a:srgbClr val="990011"/>
      </a:accent1>
      <a:accent2>
        <a:srgbClr val="2F3C7E"/>
      </a:accent2>
      <a:accent3>
        <a:srgbClr val="6B7280"/>
      </a:accent3>
      <a:accent4>
        <a:srgbClr val="1F7A4D"/>
      </a:accent4>
      <a:accent5>
        <a:srgbClr val="B88A00"/>
      </a:accent5>
      <a:accent6>
        <a:srgbClr val="D9DDE3"/>
      </a:accent6>
      <a:hlink>
        <a:srgbClr val="2F3C7E"/>
      </a:hlink>
      <a:folHlink>
        <a:srgbClr val="6B7280"/>
      </a:folHlink>
    </a:clrScheme>
    <a:fontScheme name="Birk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Бирка — проверка этикетки по техрегламенту</dc:title>
  <dc:subject>PptxGenJS Presentation</dc:subject>
  <dc:creator>Проект «Бирка»</dc:creator>
  <cp:lastModifiedBy>Проект «Бирка»</cp:lastModifiedBy>
  <cp:revision>1</cp:revision>
  <dcterms:created xsi:type="dcterms:W3CDTF">2026-10-28T06:09:55Z</dcterms:created>
  <dcterms:modified xsi:type="dcterms:W3CDTF">2026-10-28T06:09:55Z</dcterms:modified>
</cp:coreProperties>
</file>