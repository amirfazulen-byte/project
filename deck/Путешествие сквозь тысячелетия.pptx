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Открытие" id="{08144dcb-8bdf-bae7-ba46-7c5d02a078b9}">
          <p14:sldIdLst>
            <p14:sldId id="256"/>
          </p14:sldIdLst>
        </p14:section>
        <p14:section name="Проблема" id="{40c3cf73-0afc-b423-b343-0ed44282186e}">
          <p14:sldIdLst>
            <p14:sldId id="257"/>
          </p14:sldIdLst>
        </p14:section>
        <p14:section name="Решение" id="{3deadab6-8c80-bb4b-6098-e2214a55ddb2}">
          <p14:sldIdLst>
            <p14:sldId id="258"/>
          </p14:sldIdLst>
        </p14:section>
        <p14:section name="Внедрение" id="{4a53020c-a9a0-1da4-9fad-c3ac687e042a}">
          <p14:sldIdLst>
            <p14:sldId id="259"/>
          </p14:sldIdLst>
        </p14:section>
        <p14:section name="Итог" id="{1e713dce-719f-ddee-97ac-3fa974c1f300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ЗАМЕНИТЬ «Фамилия Имя». Представиться и назвать проект одной фразой: игра, по которой школьник проходит историю Татарстана от Волжской Булгарии до наших дней.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мысль: курс ввели раньше, чем появились учебники. Мы закрываем этот разрыв уже сейчас. Цифры: 512 тысяч школьников — Татарстанстат, курс и 32 пилотных региона — Минобрнауки РТ через Татар-информ.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перечислять все шесть пунктов подряд — назвать два-три и перейти к демонстрации. Главное отличие от учебника: материал проходится через действие, а не через чтение.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ключевой слайд для жюри: показывает, кто внедряет продукт. Начать можно с одного класса в своей школе — это и будет первый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ЗАМЕНИТЬ «Фамилия Имя». Закончить на планах и поблагодарить.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4A2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36F"/>
                </a:solidFill>
              </a:rPr>
              <a:t>Путешествие сквозь тысячелетия · квест по истории Татарстана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3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36F"/>
                </a:solidFill>
              </a:rPr>
              <a:t>Путешествие сквозь тысячелетия · квест по истории Татарстана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3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3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8686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</a:rPr>
              <a:t>Путешествие</a:t>
            </a:r>
            <a:endParaRPr lang="en-US" sz="4600" dirty="0"/>
          </a:p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</a:rPr>
              <a:t>сквозь тысячелетия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5204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A7BEAE"/>
                </a:solidFill>
              </a:rPr>
              <a:t>Квест по истории Татарстана: от Волжской Булгарии до современности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690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8CBC6"/>
                </a:solidFill>
              </a:rPr>
              <a:t>Для 5–11 классов · бесплатно · работает в браузере телефона</a:t>
            </a:r>
            <a:endParaRPr lang="en-US" sz="1600" dirty="0"/>
          </a:p>
        </p:txBody>
      </p:sp>
      <p:sp>
        <p:nvSpPr>
          <p:cNvPr id="5" name="подпись"/>
          <p:cNvSpPr txBox="1"/>
          <p:nvPr/>
        </p:nvSpPr>
        <p:spPr>
          <a:xfrm>
            <a:off x="640080" y="498348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Фамилия Имя</a:t>
            </a:r>
            <a:endParaRPr lang="en-US" sz="1900" dirty="0"/>
          </a:p>
          <a:p>
            <a:pPr indent="0" marL="0">
              <a:buNone/>
            </a:pPr>
            <a:r>
              <a:rPr lang="en-US" sz="1500" dirty="0">
                <a:solidFill>
                  <a:srgbClr val="D8CBC6"/>
                </a:solidFill>
              </a:rPr>
              <a:t>Лицей-интернат имени Мустафы Онджеля</a:t>
            </a:r>
            <a:endParaRPr lang="en-US" sz="19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900" dirty="0"/>
          </a:p>
          <a:p>
            <a:pPr indent="0" marL="0">
              <a:buNone/>
            </a:pPr>
            <a:r>
              <a:rPr lang="en-US" sz="1300" dirty="0">
                <a:solidFill>
                  <a:srgbClr val="A89189"/>
                </a:solidFill>
              </a:rPr>
              <a:t>Школьный конкурс по технологическому предпринимательству · ИТ-парк Татарстана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4A2420"/>
                </a:solidFill>
              </a:rPr>
              <a:t>Курс ввели, а учиться по нему не по чему</a:t>
            </a:r>
            <a:endParaRPr lang="en-US" sz="3800" dirty="0"/>
          </a:p>
        </p:txBody>
      </p:sp>
      <p:sp>
        <p:nvSpPr>
          <p:cNvPr id="3" name="школьники"/>
          <p:cNvSpPr/>
          <p:nvPr/>
        </p:nvSpPr>
        <p:spPr>
          <a:xfrm>
            <a:off x="640080" y="1600200"/>
            <a:ext cx="33832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0D9D4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B85042"/>
                </a:solidFill>
              </a:rPr>
              <a:t>512 000</a:t>
            </a:r>
            <a:endParaRPr lang="en-US" sz="34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34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7A736F"/>
                </a:solidFill>
              </a:rPr>
              <a:t>школьников в Татарстане — все изучают историю родного края</a:t>
            </a:r>
            <a:endParaRPr lang="en-US" sz="3400" dirty="0"/>
          </a:p>
        </p:txBody>
      </p:sp>
      <p:sp>
        <p:nvSpPr>
          <p:cNvPr id="4" name="курс"/>
          <p:cNvSpPr/>
          <p:nvPr/>
        </p:nvSpPr>
        <p:spPr>
          <a:xfrm>
            <a:off x="4389120" y="1600200"/>
            <a:ext cx="33832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0D9D4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B85042"/>
                </a:solidFill>
              </a:rPr>
              <a:t>5–7 класс</a:t>
            </a:r>
            <a:endParaRPr lang="en-US" sz="28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28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7A736F"/>
                </a:solidFill>
              </a:rPr>
              <a:t>курс «История нашего края» введён с 2025/26 учебного года</a:t>
            </a:r>
            <a:endParaRPr lang="en-US" sz="2800" dirty="0"/>
          </a:p>
        </p:txBody>
      </p:sp>
      <p:sp>
        <p:nvSpPr>
          <p:cNvPr id="5" name="пилот"/>
          <p:cNvSpPr/>
          <p:nvPr/>
        </p:nvSpPr>
        <p:spPr>
          <a:xfrm>
            <a:off x="8138160" y="1600200"/>
            <a:ext cx="33832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0D9D4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B85042"/>
                </a:solidFill>
              </a:rPr>
              <a:t>32 региона</a:t>
            </a:r>
            <a:endParaRPr lang="en-US" sz="28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28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7A736F"/>
                </a:solidFill>
              </a:rPr>
              <a:t>разрабатывают такие курсы, Татарстан среди пилотных</a:t>
            </a:r>
            <a:endParaRPr lang="en-US" sz="2800" dirty="0"/>
          </a:p>
        </p:txBody>
      </p:sp>
      <p:sp>
        <p:nvSpPr>
          <p:cNvPr id="6" name="сложность"/>
          <p:cNvSpPr/>
          <p:nvPr/>
        </p:nvSpPr>
        <p:spPr>
          <a:xfrm>
            <a:off x="640080" y="3657600"/>
            <a:ext cx="10881360" cy="1554480"/>
          </a:xfrm>
          <a:prstGeom prst="roundRect">
            <a:avLst>
              <a:gd name="adj" fmla="val 4706"/>
            </a:avLst>
          </a:prstGeom>
          <a:solidFill>
            <a:srgbClr val="EFF3F1"/>
          </a:solidFill>
          <a:ln/>
        </p:spPr>
        <p:txBody>
          <a:bodyPr wrap="square" lIns="203200" tIns="254000" rIns="254000" bIns="20320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A2420"/>
                </a:solidFill>
              </a:rPr>
              <a:t>В чём сложность</a:t>
            </a:r>
            <a:endParaRPr lang="en-US" sz="1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17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Курс уже идёт, а учебники ещё разрабатываются: макеты только направлены в Минпросвещения. Учителю приходится собирать материал самому, а ученику — учить даты по параграфам, которых пока нет.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3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4A2420"/>
                </a:solidFill>
              </a:rPr>
              <a:t>История как игра, а не параграф</a:t>
            </a:r>
            <a:endParaRPr lang="en-US" sz="3800" dirty="0"/>
          </a:p>
        </p:txBody>
      </p:sp>
      <p:sp>
        <p:nvSpPr>
          <p:cNvPr id="3" name="уровни"/>
          <p:cNvSpPr/>
          <p:nvPr/>
        </p:nvSpPr>
        <p:spPr>
          <a:xfrm>
            <a:off x="640080" y="1600200"/>
            <a:ext cx="33832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0D9D4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5042"/>
                </a:solidFill>
              </a:rPr>
              <a:t>10+ уровней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От Волжской Булгарии до современности — эпоха за эпохой</a:t>
            </a:r>
            <a:endParaRPr lang="en-US" sz="1600" dirty="0"/>
          </a:p>
        </p:txBody>
      </p:sp>
      <p:sp>
        <p:nvSpPr>
          <p:cNvPr id="4" name="игры"/>
          <p:cNvSpPr/>
          <p:nvPr/>
        </p:nvSpPr>
        <p:spPr>
          <a:xfrm>
            <a:off x="4389120" y="1600200"/>
            <a:ext cx="33832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0D9D4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5042"/>
                </a:solidFill>
              </a:rPr>
              <a:t>7 мини-игр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Раскопки, шифры, пазлы, викторины</a:t>
            </a:r>
            <a:endParaRPr lang="en-US" sz="1600" dirty="0"/>
          </a:p>
        </p:txBody>
      </p:sp>
      <p:sp>
        <p:nvSpPr>
          <p:cNvPr id="5" name="ачивки"/>
          <p:cNvSpPr/>
          <p:nvPr/>
        </p:nvSpPr>
        <p:spPr>
          <a:xfrm>
            <a:off x="8138160" y="1600200"/>
            <a:ext cx="33832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0D9D4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5042"/>
                </a:solidFill>
              </a:rPr>
              <a:t>22 достижения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Ачивки и внутренняя валюта тәңкә</a:t>
            </a:r>
            <a:endParaRPr lang="en-US" sz="1600" dirty="0"/>
          </a:p>
        </p:txBody>
      </p:sp>
      <p:sp>
        <p:nvSpPr>
          <p:cNvPr id="6" name="магазин"/>
          <p:cNvSpPr/>
          <p:nvPr/>
        </p:nvSpPr>
        <p:spPr>
          <a:xfrm>
            <a:off x="640080" y="329184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0D9D4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5042"/>
                </a:solidFill>
              </a:rPr>
              <a:t>Магазин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Подсказки, рамки, фоны за заработанное</a:t>
            </a:r>
            <a:endParaRPr lang="en-US" sz="1600" dirty="0"/>
          </a:p>
        </p:txBody>
      </p:sp>
      <p:sp>
        <p:nvSpPr>
          <p:cNvPr id="7" name="лидеры"/>
          <p:cNvSpPr/>
          <p:nvPr/>
        </p:nvSpPr>
        <p:spPr>
          <a:xfrm>
            <a:off x="4389120" y="329184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0D9D4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5042"/>
                </a:solidFill>
              </a:rPr>
              <a:t>Таблица лидеров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Соревнование с одноклассниками</a:t>
            </a:r>
            <a:endParaRPr lang="en-US" sz="1600" dirty="0"/>
          </a:p>
        </p:txBody>
      </p:sp>
      <p:sp>
        <p:nvSpPr>
          <p:cNvPr id="8" name="адаптив"/>
          <p:cNvSpPr/>
          <p:nvPr/>
        </p:nvSpPr>
        <p:spPr>
          <a:xfrm>
            <a:off x="8138160" y="329184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0D9D4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5042"/>
                </a:solidFill>
              </a:rPr>
              <a:t>Любое устройство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Работает в браузере телефона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892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A2420"/>
                </a:solidFill>
              </a:rPr>
              <a:t>Ребёнок играет — и запоминает последовательность эпох, а не отдельные даты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3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4A2420"/>
                </a:solidFill>
              </a:rPr>
              <a:t>Учитель ведёт класс, а не проверяет тетради</a:t>
            </a:r>
            <a:endParaRPr lang="en-US" sz="3800" dirty="0"/>
          </a:p>
        </p:txBody>
      </p:sp>
      <p:sp>
        <p:nvSpPr>
          <p:cNvPr id="3" name="ученик"/>
          <p:cNvSpPr/>
          <p:nvPr/>
        </p:nvSpPr>
        <p:spPr>
          <a:xfrm>
            <a:off x="640080" y="1600200"/>
            <a:ext cx="52578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0D9D4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5042"/>
                </a:solidFill>
              </a:rPr>
              <a:t>Роль «Ученик»</a:t>
            </a:r>
            <a:endParaRPr lang="en-US" sz="18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Проходит уровни, играет в мини-игры, зарабатывает достижения и место в рейтинге. Можно заниматься дома, без учителя.</a:t>
            </a:r>
            <a:endParaRPr lang="en-US" sz="1800" dirty="0"/>
          </a:p>
        </p:txBody>
      </p:sp>
      <p:sp>
        <p:nvSpPr>
          <p:cNvPr id="4" name="учитель"/>
          <p:cNvSpPr/>
          <p:nvPr/>
        </p:nvSpPr>
        <p:spPr>
          <a:xfrm>
            <a:off x="6263640" y="1600200"/>
            <a:ext cx="52578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0D9D4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5042"/>
                </a:solidFill>
              </a:rPr>
              <a:t>Роль «Учитель»</a:t>
            </a:r>
            <a:endParaRPr lang="en-US" sz="18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Создаёт класс, регистрирует учеников, выдаёт задания и видит, кто какой уровень прошёл.</a:t>
            </a:r>
            <a:endParaRPr lang="en-US" sz="1800" dirty="0"/>
          </a:p>
        </p:txBody>
      </p:sp>
      <p:sp>
        <p:nvSpPr>
          <p:cNvPr id="5" name="внедрение"/>
          <p:cNvSpPr/>
          <p:nvPr/>
        </p:nvSpPr>
        <p:spPr>
          <a:xfrm>
            <a:off x="640080" y="3840480"/>
            <a:ext cx="10881360" cy="1463040"/>
          </a:xfrm>
          <a:prstGeom prst="roundRect">
            <a:avLst>
              <a:gd name="adj" fmla="val 5000"/>
            </a:avLst>
          </a:prstGeom>
          <a:solidFill>
            <a:srgbClr val="B85042"/>
          </a:solidFill>
          <a:ln/>
        </p:spPr>
        <p:txBody>
          <a:bodyPr wrap="square" lIns="203200" tIns="254000" rIns="254000" bIns="20320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Почему это важно для внедрения</a:t>
            </a:r>
            <a:endParaRPr lang="en-US" sz="1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17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0E4E0"/>
                </a:solidFill>
              </a:rPr>
              <a:t>Решение принимает учитель, а не ученик. Поэтому в сервисе есть готовый кабинет учителя: класс заводится за пару минут, ничего устанавливать и согласовывать не нужно — достаточно открыть ссылку.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3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Что дальше</a:t>
            </a:r>
            <a:endParaRPr lang="en-US" sz="4000" dirty="0"/>
          </a:p>
        </p:txBody>
      </p:sp>
      <p:sp>
        <p:nvSpPr>
          <p:cNvPr id="3" name="план 1"/>
          <p:cNvSpPr/>
          <p:nvPr/>
        </p:nvSpPr>
        <p:spPr>
          <a:xfrm>
            <a:off x="640080" y="2103120"/>
            <a:ext cx="3413760" cy="1188720"/>
          </a:xfrm>
          <a:prstGeom prst="roundRect">
            <a:avLst>
              <a:gd name="adj" fmla="val 7692"/>
            </a:avLst>
          </a:prstGeom>
          <a:solidFill>
            <a:srgbClr val="6B332C"/>
          </a:solidFill>
          <a:ln/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Пилот в классе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8CBC6"/>
                </a:solidFill>
              </a:rPr>
              <a:t>один класс своей школы</a:t>
            </a:r>
            <a:endParaRPr lang="en-US" sz="1600" dirty="0"/>
          </a:p>
        </p:txBody>
      </p:sp>
      <p:sp>
        <p:nvSpPr>
          <p:cNvPr id="4" name="план 2"/>
          <p:cNvSpPr/>
          <p:nvPr/>
        </p:nvSpPr>
        <p:spPr>
          <a:xfrm>
            <a:off x="4373880" y="2103120"/>
            <a:ext cx="3413760" cy="1188720"/>
          </a:xfrm>
          <a:prstGeom prst="roundRect">
            <a:avLst>
              <a:gd name="adj" fmla="val 7692"/>
            </a:avLst>
          </a:prstGeom>
          <a:solidFill>
            <a:srgbClr val="6B332C"/>
          </a:solidFill>
          <a:ln/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Больше эпох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8CBC6"/>
                </a:solidFill>
              </a:rPr>
              <a:t>уровни до наших дней</a:t>
            </a:r>
            <a:endParaRPr lang="en-US" sz="1600" dirty="0"/>
          </a:p>
        </p:txBody>
      </p:sp>
      <p:sp>
        <p:nvSpPr>
          <p:cNvPr id="5" name="план 3"/>
          <p:cNvSpPr/>
          <p:nvPr/>
        </p:nvSpPr>
        <p:spPr>
          <a:xfrm>
            <a:off x="8107680" y="2103120"/>
            <a:ext cx="3413760" cy="1188720"/>
          </a:xfrm>
          <a:prstGeom prst="roundRect">
            <a:avLst>
              <a:gd name="adj" fmla="val 7692"/>
            </a:avLst>
          </a:prstGeom>
          <a:solidFill>
            <a:srgbClr val="6B332C"/>
          </a:solidFill>
          <a:ln/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Отчёт учителю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8CBC6"/>
                </a:solidFill>
              </a:rPr>
              <a:t>видно, кто отстал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611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D8CBC6"/>
                </a:solidFill>
              </a:rPr>
              <a:t>Курс по истории края ввели в 32 регионах — сделанное для Татарстана подойдёт и соседям</a:t>
            </a:r>
            <a:endParaRPr lang="en-US" sz="1500" dirty="0"/>
          </a:p>
        </p:txBody>
      </p:sp>
      <p:sp>
        <p:nvSpPr>
          <p:cNvPr id="7" name="подпись"/>
          <p:cNvSpPr txBox="1"/>
          <p:nvPr/>
        </p:nvSpPr>
        <p:spPr>
          <a:xfrm>
            <a:off x="640080" y="4343400"/>
            <a:ext cx="9144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A7BEAE"/>
                </a:solidFill>
              </a:rPr>
              <a:t>tathistory.tatnet.app</a:t>
            </a:r>
            <a:endParaRPr lang="en-US" sz="2200" dirty="0"/>
          </a:p>
          <a:p>
            <a:pPr indent="0" marL="0">
              <a:buNone/>
            </a:pPr>
            <a:r>
              <a:rPr lang="en-US" sz="1500" dirty="0">
                <a:solidFill>
                  <a:srgbClr val="A89189"/>
                </a:solidFill>
              </a:rPr>
              <a:t>Спасибо. Готов ответить на вопросы</a:t>
            </a:r>
            <a:endParaRPr lang="en-US" sz="2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rgbClr val="8F7870"/>
                </a:solidFill>
              </a:rPr>
              <a:t>Фамилия Имя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rgbClr val="8F7870"/>
                </a:solidFill>
              </a:rPr>
              <a:t>Лицей-интернат имени Мустафы Онджеля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atHistory">
  <a:themeElements>
    <a:clrScheme name="TatHistory">
      <a:dk1>
        <a:srgbClr val="231512"/>
      </a:dk1>
      <a:lt1>
        <a:srgbClr val="FFFFFF"/>
      </a:lt1>
      <a:dk2>
        <a:srgbClr val="4A2420"/>
      </a:dk2>
      <a:lt2>
        <a:srgbClr val="EFF3F1"/>
      </a:lt2>
      <a:accent1>
        <a:srgbClr val="B85042"/>
      </a:accent1>
      <a:accent2>
        <a:srgbClr val="7A4A3F"/>
      </a:accent2>
      <a:accent3>
        <a:srgbClr val="7A736F"/>
      </a:accent3>
      <a:accent4>
        <a:srgbClr val="A7BEAE"/>
      </a:accent4>
      <a:accent5>
        <a:srgbClr val="8C3A2E"/>
      </a:accent5>
      <a:accent6>
        <a:srgbClr val="E0D9D4"/>
      </a:accent6>
      <a:hlink>
        <a:srgbClr val="B85042"/>
      </a:hlink>
      <a:folHlink>
        <a:srgbClr val="7A736F"/>
      </a:folHlink>
    </a:clrScheme>
    <a:fontScheme name="TatHistor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Квест по истории Татарстана для 5–11 классов</dc:title>
  <dc:subject>PptxGenJS Presentation</dc:subject>
  <dc:creator>Проект «Путешествие сквозь тысячелетия»</dc:creator>
  <cp:lastModifiedBy>Проект «Путешествие сквозь тысячелетия»</cp:lastModifiedBy>
  <cp:revision>1</cp:revision>
  <dcterms:created xsi:type="dcterms:W3CDTF">2026-10-28T06:54:08Z</dcterms:created>
  <dcterms:modified xsi:type="dcterms:W3CDTF">2026-10-28T06:54:08Z</dcterms:modified>
</cp:coreProperties>
</file>