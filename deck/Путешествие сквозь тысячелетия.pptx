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ткрытие" id="{f78f0ded-d634-113e-92c5-9edb1472c81f}">
          <p14:sldIdLst>
            <p14:sldId id="256"/>
          </p14:sldIdLst>
        </p14:section>
        <p14:section name="Проблема" id="{531a25e9-5962-99d8-eb73-739483201bfb}">
          <p14:sldIdLst>
            <p14:sldId id="257"/>
          </p14:sldIdLst>
        </p14:section>
        <p14:section name="Решение" id="{0b4750e4-a383-5ca9-c8b7-676363c963af}">
          <p14:sldIdLst>
            <p14:sldId id="258"/>
          </p14:sldIdLst>
        </p14:section>
        <p14:section name="Внедрение" id="{d74f9497-9262-def8-b5db-2b4a3c178c32}">
          <p14:sldIdLst>
            <p14:sldId id="259"/>
          </p14:sldIdLst>
        </p14:section>
        <p14:section name="Итог" id="{c9efce77-6642-ca59-2c22-ecab0f5156eb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 и назвать проект одной фразой: игра, по которой школьник проходит историю Татарстана от Волжской Булгарии до наших дней.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мысль: курс ввели раньше, чем появились учебники. Мы закрываем этот разрыв уже сейчас. Цифры: 512 тысяч школьников — Татарстанстат, курс и 32 пилотных региона — Минобрнауки РТ через Татар-информ.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перечислять все шесть пунктов подряд — назвать два-три и перейти к демонстрации. Главное отличие от учебника: материал проходится через действие, а не через чтение.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ключевой слайд для жюри: показывает, кто внедряет продукт. Начать можно с одного класса в своей школе — это и будет первый пилот.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на планах и поблагодарить.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B70"/>
                </a:solidFill>
              </a:rPr>
              <a:t>Путешествие сквозь тысячелетия · квест по истории Татарстана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B70"/>
                </a:solidFill>
              </a:rPr>
              <a:t>Путешествие сквозь тысячелетия · квест по истории Татарстана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Путешествие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сквозь тысячелетия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Квест по истории Татарстана: от Волжской Булгарии до современности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3E0D2"/>
                </a:solidFill>
              </a:rPr>
              <a:t>Для 5–11 классов · бесплатно · работает в браузере телефона</a:t>
            </a:r>
            <a:endParaRPr lang="en-US" sz="1600" dirty="0"/>
          </a:p>
        </p:txBody>
      </p:sp>
      <p:sp>
        <p:nvSpPr>
          <p:cNvPr id="5" name="подпись"/>
          <p:cNvSpPr txBox="1"/>
          <p:nvPr/>
        </p:nvSpPr>
        <p:spPr>
          <a:xfrm>
            <a:off x="640080" y="41148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Фаустов Радмир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D3E0D2"/>
                </a:solidFill>
              </a:rPr>
              <a:t>Лицей-интернат имени Мустафы Онджеля</a:t>
            </a:r>
            <a:endParaRPr lang="en-US" sz="1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9BB09C"/>
                </a:solidFill>
              </a:rPr>
              <a:t>Школьный конкурс по технологическому предпринимательству · ИТ-парк Татарстана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3A24"/>
                </a:solidFill>
              </a:rPr>
              <a:t>Курс ввели, а учиться по нему не по чему</a:t>
            </a:r>
            <a:endParaRPr lang="en-US" sz="3800" dirty="0"/>
          </a:p>
        </p:txBody>
      </p:sp>
      <p:sp>
        <p:nvSpPr>
          <p:cNvPr id="3" name="школьники"/>
          <p:cNvSpPr/>
          <p:nvPr/>
        </p:nvSpPr>
        <p:spPr>
          <a:xfrm>
            <a:off x="640080" y="16002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C5F2D"/>
                </a:solidFill>
              </a:rPr>
              <a:t>512 000</a:t>
            </a:r>
            <a:endParaRPr lang="en-US" sz="34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3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E7B70"/>
                </a:solidFill>
              </a:rPr>
              <a:t>школьников в Татарстане — все изучают историю родного края</a:t>
            </a:r>
            <a:endParaRPr lang="en-US" sz="3400" dirty="0"/>
          </a:p>
        </p:txBody>
      </p:sp>
      <p:sp>
        <p:nvSpPr>
          <p:cNvPr id="4" name="курс"/>
          <p:cNvSpPr/>
          <p:nvPr/>
        </p:nvSpPr>
        <p:spPr>
          <a:xfrm>
            <a:off x="4389120" y="16002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5–7 класс</a:t>
            </a:r>
            <a:endParaRPr lang="en-US" sz="28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E7B70"/>
                </a:solidFill>
              </a:rPr>
              <a:t>курс «История нашего края» введён с 2025/26 учебного года</a:t>
            </a:r>
            <a:endParaRPr lang="en-US" sz="2800" dirty="0"/>
          </a:p>
        </p:txBody>
      </p:sp>
      <p:sp>
        <p:nvSpPr>
          <p:cNvPr id="5" name="пилот"/>
          <p:cNvSpPr/>
          <p:nvPr/>
        </p:nvSpPr>
        <p:spPr>
          <a:xfrm>
            <a:off x="8138160" y="16002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32 региона</a:t>
            </a:r>
            <a:endParaRPr lang="en-US" sz="28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E7B70"/>
                </a:solidFill>
              </a:rPr>
              <a:t>разрабатывают такие курсы, Татарстан среди пилотных</a:t>
            </a:r>
            <a:endParaRPr lang="en-US" sz="2800" dirty="0"/>
          </a:p>
        </p:txBody>
      </p:sp>
      <p:sp>
        <p:nvSpPr>
          <p:cNvPr id="6" name="сложность"/>
          <p:cNvSpPr/>
          <p:nvPr/>
        </p:nvSpPr>
        <p:spPr>
          <a:xfrm>
            <a:off x="640080" y="36576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/>
        </p:spPr>
        <p:txBody>
          <a:bodyPr wrap="square" lIns="203200" tIns="254000" rIns="254000" bIns="2032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3A24"/>
                </a:solidFill>
              </a:rPr>
              <a:t>В чём сложность</a:t>
            </a:r>
            <a:endParaRPr lang="en-US" sz="1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Курс уже идёт, а учебники ещё разрабатываются: макеты только направлены в Минпросвещения. Учителю приходится собирать материал самому, а ученику — учить даты по параграфам, которых пока нет.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3A24"/>
                </a:solidFill>
              </a:rPr>
              <a:t>История как игра, а не параграф</a:t>
            </a:r>
            <a:endParaRPr lang="en-US" sz="3800" dirty="0"/>
          </a:p>
        </p:txBody>
      </p:sp>
      <p:sp>
        <p:nvSpPr>
          <p:cNvPr id="3" name="уровни"/>
          <p:cNvSpPr/>
          <p:nvPr/>
        </p:nvSpPr>
        <p:spPr>
          <a:xfrm>
            <a:off x="640080" y="1600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10+ уровней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 Волжской Булгарии до современности — эпоха за эпохой</a:t>
            </a:r>
            <a:endParaRPr lang="en-US" sz="1600" dirty="0"/>
          </a:p>
        </p:txBody>
      </p:sp>
      <p:sp>
        <p:nvSpPr>
          <p:cNvPr id="4" name="игры"/>
          <p:cNvSpPr/>
          <p:nvPr/>
        </p:nvSpPr>
        <p:spPr>
          <a:xfrm>
            <a:off x="4389120" y="1600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7 мини-игр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Раскопки, шифры, пазлы, викторины</a:t>
            </a:r>
            <a:endParaRPr lang="en-US" sz="1600" dirty="0"/>
          </a:p>
        </p:txBody>
      </p:sp>
      <p:sp>
        <p:nvSpPr>
          <p:cNvPr id="5" name="ачивки"/>
          <p:cNvSpPr/>
          <p:nvPr/>
        </p:nvSpPr>
        <p:spPr>
          <a:xfrm>
            <a:off x="8138160" y="1600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22 достижения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Ачивки и внутренняя валюта тәңкә</a:t>
            </a:r>
            <a:endParaRPr lang="en-US" sz="1600" dirty="0"/>
          </a:p>
        </p:txBody>
      </p:sp>
      <p:sp>
        <p:nvSpPr>
          <p:cNvPr id="6" name="магазин"/>
          <p:cNvSpPr/>
          <p:nvPr/>
        </p:nvSpPr>
        <p:spPr>
          <a:xfrm>
            <a:off x="64008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Магазин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Подсказки, рамки, фоны за заработанное</a:t>
            </a:r>
            <a:endParaRPr lang="en-US" sz="1600" dirty="0"/>
          </a:p>
        </p:txBody>
      </p:sp>
      <p:sp>
        <p:nvSpPr>
          <p:cNvPr id="7" name="лидеры"/>
          <p:cNvSpPr/>
          <p:nvPr/>
        </p:nvSpPr>
        <p:spPr>
          <a:xfrm>
            <a:off x="438912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Таблица лидеров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Соревнование с одноклассниками</a:t>
            </a:r>
            <a:endParaRPr lang="en-US" sz="1600" dirty="0"/>
          </a:p>
        </p:txBody>
      </p:sp>
      <p:sp>
        <p:nvSpPr>
          <p:cNvPr id="8" name="адаптив"/>
          <p:cNvSpPr/>
          <p:nvPr/>
        </p:nvSpPr>
        <p:spPr>
          <a:xfrm>
            <a:off x="813816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Любое устройство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Работает в браузере телефона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24"/>
                </a:solidFill>
              </a:rPr>
              <a:t>Ребёнок играет — и запоминает последовательность эпох, а не отдельные даты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3A24"/>
                </a:solidFill>
              </a:rPr>
              <a:t>Учитель ведёт класс, а не проверяет тетради</a:t>
            </a:r>
            <a:endParaRPr lang="en-US" sz="3800" dirty="0"/>
          </a:p>
        </p:txBody>
      </p:sp>
      <p:sp>
        <p:nvSpPr>
          <p:cNvPr id="3" name="ученик"/>
          <p:cNvSpPr/>
          <p:nvPr/>
        </p:nvSpPr>
        <p:spPr>
          <a:xfrm>
            <a:off x="640080" y="16002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Роль «Ученик»</a:t>
            </a:r>
            <a:endParaRPr lang="en-US" sz="18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Проходит уровни, играет в мини-игры, зарабатывает достижения и место в рейтинге. Можно заниматься дома, без учителя.</a:t>
            </a:r>
            <a:endParaRPr lang="en-US" sz="1800" dirty="0"/>
          </a:p>
        </p:txBody>
      </p:sp>
      <p:sp>
        <p:nvSpPr>
          <p:cNvPr id="4" name="учитель"/>
          <p:cNvSpPr/>
          <p:nvPr/>
        </p:nvSpPr>
        <p:spPr>
          <a:xfrm>
            <a:off x="6263640" y="16002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Роль «Учитель»</a:t>
            </a:r>
            <a:endParaRPr lang="en-US" sz="18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Создаёт класс, регистрирует учеников, выдаёт задания и видит, кто какой уровень прошёл.</a:t>
            </a:r>
            <a:endParaRPr lang="en-US" sz="1800" dirty="0"/>
          </a:p>
        </p:txBody>
      </p:sp>
      <p:sp>
        <p:nvSpPr>
          <p:cNvPr id="5" name="внедрение"/>
          <p:cNvSpPr/>
          <p:nvPr/>
        </p:nvSpPr>
        <p:spPr>
          <a:xfrm>
            <a:off x="640080" y="384048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  <p:txBody>
          <a:bodyPr wrap="square" lIns="203200" tIns="254000" rIns="254000" bIns="2032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Почему это важно для внедрения</a:t>
            </a:r>
            <a:endParaRPr lang="en-US" sz="1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FE0"/>
                </a:solidFill>
              </a:rPr>
              <a:t>Решение принимает учитель, а не ученик. Поэтому в сервисе есть готовый кабинет учителя: класс заводится за пару минут, ничего устанавливать и согласовывать не нужно — достаточно открыть ссылку.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Что дальше</a:t>
            </a:r>
            <a:endParaRPr lang="en-US" sz="4000" dirty="0"/>
          </a:p>
        </p:txBody>
      </p:sp>
      <p:sp>
        <p:nvSpPr>
          <p:cNvPr id="3" name="план 1"/>
          <p:cNvSpPr/>
          <p:nvPr/>
        </p:nvSpPr>
        <p:spPr>
          <a:xfrm>
            <a:off x="640080" y="2103120"/>
            <a:ext cx="3413760" cy="1188720"/>
          </a:xfrm>
          <a:prstGeom prst="roundRect">
            <a:avLst>
              <a:gd name="adj" fmla="val 7692"/>
            </a:avLst>
          </a:prstGeom>
          <a:solidFill>
            <a:srgbClr val="2E5A38"/>
          </a:solidFill>
          <a:ln/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Пилот в классе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3E0D2"/>
                </a:solidFill>
              </a:rPr>
              <a:t>один класс своей школы</a:t>
            </a:r>
            <a:endParaRPr lang="en-US" sz="1600" dirty="0"/>
          </a:p>
        </p:txBody>
      </p:sp>
      <p:sp>
        <p:nvSpPr>
          <p:cNvPr id="4" name="план 2"/>
          <p:cNvSpPr/>
          <p:nvPr/>
        </p:nvSpPr>
        <p:spPr>
          <a:xfrm>
            <a:off x="4373880" y="2103120"/>
            <a:ext cx="3413760" cy="1188720"/>
          </a:xfrm>
          <a:prstGeom prst="roundRect">
            <a:avLst>
              <a:gd name="adj" fmla="val 7692"/>
            </a:avLst>
          </a:prstGeom>
          <a:solidFill>
            <a:srgbClr val="2E5A38"/>
          </a:solidFill>
          <a:ln/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Больше эпох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3E0D2"/>
                </a:solidFill>
              </a:rPr>
              <a:t>уровни до наших дней</a:t>
            </a:r>
            <a:endParaRPr lang="en-US" sz="1600" dirty="0"/>
          </a:p>
        </p:txBody>
      </p:sp>
      <p:sp>
        <p:nvSpPr>
          <p:cNvPr id="5" name="план 3"/>
          <p:cNvSpPr/>
          <p:nvPr/>
        </p:nvSpPr>
        <p:spPr>
          <a:xfrm>
            <a:off x="8107680" y="2103120"/>
            <a:ext cx="3413760" cy="1188720"/>
          </a:xfrm>
          <a:prstGeom prst="roundRect">
            <a:avLst>
              <a:gd name="adj" fmla="val 7692"/>
            </a:avLst>
          </a:prstGeom>
          <a:solidFill>
            <a:srgbClr val="2E5A38"/>
          </a:solidFill>
          <a:ln/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Отчёт учителю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3E0D2"/>
                </a:solidFill>
              </a:rPr>
              <a:t>видно, кто отстал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3E0D2"/>
                </a:solidFill>
              </a:rPr>
              <a:t>Курс по истории края ввели в 32 регионах — сделанное для Татарстана подойдёт и соседям</a:t>
            </a:r>
            <a:endParaRPr lang="en-US" sz="1500" dirty="0"/>
          </a:p>
        </p:txBody>
      </p:sp>
      <p:sp>
        <p:nvSpPr>
          <p:cNvPr id="7" name="подпись"/>
          <p:cNvSpPr txBox="1"/>
          <p:nvPr/>
        </p:nvSpPr>
        <p:spPr>
          <a:xfrm>
            <a:off x="640080" y="416052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tathistory.tatnet.app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9BB09C"/>
                </a:solidFill>
              </a:rPr>
              <a:t>Спасибо. Готов ответить на вопросы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7F9480"/>
                </a:solidFill>
              </a:rPr>
              <a:t>Фаустов Радмир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7F9480"/>
                </a:solidFill>
              </a:rPr>
              <a:t>Лицей-интернат имени Мустафы Онджеля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tHistory">
  <a:themeElements>
    <a:clrScheme name="TatHistory">
      <a:dk1>
        <a:srgbClr val="16231A"/>
      </a:dk1>
      <a:lt1>
        <a:srgbClr val="FFFFFF"/>
      </a:lt1>
      <a:dk2>
        <a:srgbClr val="1C3A24"/>
      </a:dk2>
      <a:lt2>
        <a:srgbClr val="EEF3EC"/>
      </a:lt2>
      <a:accent1>
        <a:srgbClr val="2C5F2D"/>
      </a:accent1>
      <a:accent2>
        <a:srgbClr val="24502A"/>
      </a:accent2>
      <a:accent3>
        <a:srgbClr val="6E7B70"/>
      </a:accent3>
      <a:accent4>
        <a:srgbClr val="97BC62"/>
      </a:accent4>
      <a:accent5>
        <a:srgbClr val="1F4621"/>
      </a:accent5>
      <a:accent6>
        <a:srgbClr val="DCE4DA"/>
      </a:accent6>
      <a:hlink>
        <a:srgbClr val="2C5F2D"/>
      </a:hlink>
      <a:folHlink>
        <a:srgbClr val="6E7B70"/>
      </a:folHlink>
    </a:clrScheme>
    <a:fontScheme name="TatHist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Квест по истории Татарстана для 5–11 классов</dc:title>
  <dc:subject>PptxGenJS Presentation</dc:subject>
  <dc:creator>Проект «Путешествие сквозь тысячелетия»</dc:creator>
  <cp:lastModifiedBy>Проект «Путешествие сквозь тысячелетия»</cp:lastModifiedBy>
  <cp:revision>1</cp:revision>
  <dcterms:created xsi:type="dcterms:W3CDTF">2026-10-28T07:16:52Z</dcterms:created>
  <dcterms:modified xsi:type="dcterms:W3CDTF">2026-10-28T07:16:52Z</dcterms:modified>
</cp:coreProperties>
</file>